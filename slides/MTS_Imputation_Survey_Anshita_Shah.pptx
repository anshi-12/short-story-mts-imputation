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3b68f20e-0b8a-7b0a-6e56-6c770ed00f98}">
          <p14:sldIdLst>
            <p14:sldId id="256"/>
            <p14:sldId id="257"/>
          </p14:sldIdLst>
        </p14:section>
        <p14:section name="Core concepts" id="{18a9e082-600c-c91d-687f-19655d630197}">
          <p14:sldIdLst>
            <p14:sldId id="258"/>
            <p14:sldId id="259"/>
            <p14:sldId id="260"/>
          </p14:sldIdLst>
        </p14:section>
        <p14:section name="Methods" id="{0193d7fc-9f63-6b4f-15d5-e305ea096d8b}">
          <p14:sldIdLst>
            <p14:sldId id="261"/>
            <p14:sldId id="262"/>
          </p14:sldIdLst>
        </p14:section>
        <p14:section name="Findings" id="{f769c498-f915-c33e-48c7-1501bedf8602}">
          <p14:sldIdLst>
            <p14:sldId id="263"/>
            <p14:sldId id="264"/>
            <p14:sldId id="265"/>
            <p14:sldId id="266"/>
          </p14:sldIdLst>
        </p14:section>
        <p14:section name="Reflection" id="{3d2a1f02-5090-2c8c-dc64-d4e8ce62a10e}">
          <p14:sldIdLst>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everyone, I'm Anshita Shah, and this is my short story for CMPE 255, Data Mining. The paper I chose is "Deep Learning for Multivariate Time Series Imputation: A Survey" by Jun Wang, Wenjie Du and their colleagues, published in the IJCAI 2025 survey track. In the next twelve or so minutes I'll explain what problem this paper tackles, how the authors organise a very crowded field of deep learning methods, what they concluded, and finally what I personally took away from it, given that I work with clinical data that is full of gaps.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start with the problem. Almost every real dataset recorded over time has holes in it. In a hospital, vitals like heart rate are captured often, but lab values like lactate show up only a few times a day. In the PhysioNet 2012 ICU dataset, which the survey cites, more than eighty percent of the values are missing. Sensors fail, networks drop packets, and privacy rules hide fields. Most machine learning models cannot accept a table with holes in it, so somebody has to fill those holes first. That step is called imputation. The survey's goal is to organise the many deep learning methods for doing this, compare their trade-offs, and point to fair benchmarks.
The traditional remedies are easy to reach for. Mean filling replaces every gap with the column average. Last observation carried forward just copies the previous value. KNN borrows from similar rows, and MICE runs chained regressions. They are fast and cheap, which is why everyone uses them. The trouble is that they are myopic. They treat each variable mostly in isolation and ignore how values evolve through time and how variables move together. A heart rate spike and a falling blood pressure tell a story together, and these methods cannot hear it. The result is data that looks tidy but quietly misleads whatever model you train on top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any model, the paper asks a deceptively simple question: why is this value missing? It uses Rubin's three classic categories. MCAR, missing completely at random, means the gap has nothing to do with any value, like a sensor lead slipping off by chance. MAR, missing at random, means the gap depends on things you can observe, for example fewer readings at night when time is recorded. MNAR, missing not at random, is the tricky one. The gap depends on the hidden value itself. A doctor orders a lactate test because the patient already looks unwell. MCAR and MAR are called ignorable, so a model can learn from what is observed. MNAR is non-ignorable, and if you ignore it your estimates become biased in a way your metrics may never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heart of the survey: how to organise more than thirty deep imputers. The authors use two axes instead of one long list. The columns are about what the model outputs. Predictive methods give one best guess per missing value. Generative methods learn a whole distribution, so you can sample several plausible fills and measure uncertainty. Large model methods reuse pre-trained foundation models or language models. The rows are about the network architecture: RNNs, CNNs, graph networks, attention, VAEs, GANs, diffusion models and large models. You can see the clustering. Recurrent, convolutional, graph and attention models sit mostly on the predictive side, while VAEs, GANs and diffusion models are generative by nature.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summarises what the survey says about each family. RNNs fit sequences naturally, but they process step by step, so they are slow on long series. CNNs catch local patterns but are limited by kernel size. Graph networks model how sensors relate to each other, at a high computational cost on big graphs. Attention models are generally the strongest for imputation because they see long-range dependencies and train in parallel. VAEs give explicit probabilities but limited generative power. GANs produce realistic outputs but are notoriously unstable to train. Diffusion models capture the most complex patterns but are expensive and can produce fills that clash with neighbouring observed values. Large models bring transfer from pre-training, but this area is still young.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spotlight four models that come up again and again. GRU-D, from 2018, modifies a recurrent unit so that the influence of an old reading decays based on how long ago it was seen. That idea of using time gaps as an input is very intuitive for clinical data. BRITS treats missing values as variables inside a bidirectional recurrent graph, and it can do classification at the same time. SAITS uses diagonally masked self-attention and trains on two objectives together, masked imputation and reconstruction. And CSDI was the first diffusion model designed specifically for time series imputation. It starts from noise and gradually denoises toward plausible values, conditioned on what was observed.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Putting these on a timeline shows the arc of the field. Around 2018 it was recurrent networks and the first GANs. 2020 brought VAEs with Gaussian process priors. 2021 was the arrival of diffusion with CSDI. 2022 saw graph networks like GRIN for sensor networks. By 2023 attention models like SAITS and TimesNet were strong, and language models such as GPT4TS were being adapted. And in 2024, time series foundation models like MOMENT and Timer joined in. So the field has moved from hand-crafted recurrent tricks toward large, general, pre-trained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did the authors conclude? Since this is a survey, these are judgments across the whole field rather than one experiment. One: attention-based models generally beat RNNs and CNNs. Two: generative models, especially diffusion, are the most expressive and give uncertainty, but they cost a lot to run. Three: most methods quietly assume MCAR or MAR, while real data, especially clinical data, is often MNAR. That mismatch is the biggest gap in the field. Four: the usual approach of imputing first and predicting second throws information away. And five: comparisons across papers were inconsistent, which is why they built shared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explains point four. In the two-stage pipeline, you fill the gaps, hand the now complete data to a classifier, and the mask that told you what was missing is thrown away. In the end-to-end approach, the model receives the data together with the mask and the time gaps, encodes them jointly, and predicts directly. The authors argue the second path is more promising, especially when the pattern of missingness itself carries meaning. In a hospital, the fact that a doctor ordered a test is information.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make comparisons fair, the authors point to two resources from their own group. PyPOTS is a Python toolbox for partially observed time series, with thirty-seven imputation models at the time of writing. TSI-Bench is a benchmark suite built on it, covering 34,804 experiments, 28 algorithms and 8 datasets with varied missingness patterns. For anyone wanting to try these models, PyPOTS is the obvious starting point, and that is what I would use for a small experiment.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survey closes with open problems. Handling MNAR data properly is first. Scaling deep imputers to very large datasets is second, since they are much heavier than statistical methods. Third is judging imputation by how well downstream tasks perform, not only by reconstruction error. And fourth is using large language models that carry domain knowledge, priors about missingness and multimodal inputs like clinical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my own take. I work on early sepsis detection with Transformers on the PhysioNet 2019 dataset, so this problem is personal. In that data, lab values are mostly missing, and they are not missing at random. Clinicians order labs when they are worried. That makes the encode-and-predict argument very convincing to me. Throwing away the mask is throwing away a clinician's suspicion. One thing I wish the survey did more of is clinical evaluation: reporting how imputation choices change real decisions like early alerts, not just error on held-out values. And I think the biggest practical wins will come from methods that treat MNAR as the default rather than the exception.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Missing data is the norm, not the exception. Always ask why a value is missing before choosing a method. Attention models are a strong default, and diffusion models are powerful when you need uncertainty and can afford the compute. And whenever missingness carries meaning, keep the mask as a feature. The paper link, my Medium article and the slides are all in my GitHub repository. Thank you for watching.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8046720" cy="1371600"/>
          </a:xfrm>
          <a:prstGeom prst="rect">
            <a:avLst/>
          </a:prstGeom>
          <a:noFill/>
          <a:ln/>
        </p:spPr>
        <p:txBody>
          <a:bodyPr wrap="square" rtlCol="0"/>
          <a:lstStyle>
            <a:lvl1pPr algn="l" indent="0" marL="0">
              <a:buNone/>
              <a:defRPr lang="en-US" sz="36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600" dirty="0"/>
          </a:p>
        </p:txBody>
      </p:sp>
      <p:sp>
        <p:nvSpPr>
          <p:cNvPr id="3" name="Text 0"/>
          <p:cNvSpPr/>
          <p:nvPr>
            <p:ph idx="101" type="body" hasCustomPrompt="1"/>
          </p:nvPr>
        </p:nvSpPr>
        <p:spPr>
          <a:xfrm>
            <a:off x="548640" y="2926080"/>
            <a:ext cx="8046720" cy="1188720"/>
          </a:xfrm>
          <a:prstGeom prst="rect">
            <a:avLst/>
          </a:prstGeom>
          <a:noFill/>
          <a:ln/>
        </p:spPr>
        <p:txBody>
          <a:bodyPr wrap="square" rtlCol="0"/>
          <a:lstStyle>
            <a:lvl1pPr indent="0" marL="0">
              <a:buNone/>
              <a:defRPr lang="en-US" sz="1600" dirty="0">
                <a:solidFill>
                  <a:schemeClr val="bg2"/>
                </a:solidFill>
              </a:defRPr>
            </a:lvl1pPr>
          </a:lstStyle>
          <a:p>
            <a:pPr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lstStyle>
            <a:lvl1pPr indent="0" marL="0">
              <a:buNone/>
              <a:defRPr lang="en-US" sz="2800" b="1" dirty="0">
                <a:solidFill>
                  <a:schemeClr val="tx1"/>
                </a:solidFill>
                <a:latin typeface="Cambria" pitchFamily="34" charset="0"/>
                <a:ea typeface="Cambria" pitchFamily="34" charset="-122"/>
                <a:cs typeface="Cambria" pitchFamily="34" charset="-120"/>
              </a:defRPr>
            </a:lvl1pPr>
          </a:lstStyle>
          <a:p>
            <a:pPr indent="0" marL="0">
              <a:buNone/>
            </a:pPr>
            <a:endParaRPr lang="en-US" sz="2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ph idx="100" type="title" hasCustomPrompt="1"/>
          </p:nvPr>
        </p:nvSpPr>
        <p:spPr>
          <a:xfrm>
            <a:off x="548640" y="1417320"/>
            <a:ext cx="8046720" cy="1371600"/>
          </a:xfrm>
          <a:prstGeom prst="rect">
            <a:avLst/>
          </a:prstGeom>
          <a:noFill/>
          <a:ln/>
        </p:spPr>
        <p:txBody>
          <a:bodyPr wrap="square" lIns="0" tIns="0" rIns="0" bIns="0" rtlCol="0" anchor="b"/>
          <a:lstStyle/>
          <a:p>
            <a:pPr algn="l" indent="0" marL="0">
              <a:buNone/>
            </a:pPr>
            <a:r>
              <a:rPr lang="en-US" sz="3600" b="1" dirty="0">
                <a:solidFill>
                  <a:schemeClr val="bg1"/>
                </a:solidFill>
                <a:latin typeface="Cambria" pitchFamily="34" charset="0"/>
                <a:ea typeface="Cambria" pitchFamily="34" charset="-122"/>
                <a:cs typeface="Cambria" pitchFamily="34" charset="-120"/>
              </a:rPr>
              <a:t>Filling the Gaps: Deep Learning for Multivariate Time Series Imputation</a:t>
            </a:r>
            <a:endParaRPr lang="en-US" sz="3600" dirty="0"/>
          </a:p>
        </p:txBody>
      </p:sp>
      <p:sp>
        <p:nvSpPr>
          <p:cNvPr id="4" name="Text 0"/>
          <p:cNvSpPr/>
          <p:nvPr>
            <p:ph idx="101" type="body" hasCustomPrompt="1"/>
          </p:nvPr>
        </p:nvSpPr>
        <p:spPr>
          <a:xfrm>
            <a:off x="548640" y="2926080"/>
            <a:ext cx="8046720" cy="1188720"/>
          </a:xfrm>
          <a:prstGeom prst="rect">
            <a:avLst/>
          </a:prstGeom>
          <a:noFill/>
          <a:ln/>
        </p:spPr>
        <p:txBody>
          <a:bodyPr wrap="square" lIns="0" tIns="0" rIns="0" bIns="0" rtlCol="0" anchor="t"/>
          <a:lstStyle/>
          <a:p>
            <a:pPr indent="0" marL="0">
              <a:buNone/>
            </a:pPr>
            <a:r>
              <a:rPr lang="en-US" sz="1600" dirty="0">
                <a:solidFill>
                  <a:schemeClr val="bg2"/>
                </a:solidFill>
              </a:rPr>
              <a:t>A short story on the IJCAI 2025 survey (survey track)</a:t>
            </a:r>
            <a:endParaRPr lang="en-US" sz="1600" dirty="0"/>
          </a:p>
          <a:p>
            <a:pPr indent="0" marL="0">
              <a:buNone/>
            </a:pPr>
            <a:r>
              <a:rPr lang="en-US" sz="1600" dirty="0">
                <a:solidFill>
                  <a:schemeClr val="accent2"/>
                </a:solidFill>
              </a:rPr>
              <a:t>Anshita Shah  |  CMPE 255 Data Mining  |  San José State University</a:t>
            </a:r>
            <a:endParaRPr lang="en-US" sz="1600" dirty="0"/>
          </a:p>
        </p:txBody>
      </p:sp>
      <p:sp>
        <p:nvSpPr>
          <p:cNvPr id="5" name="motif0"/>
          <p:cNvSpPr/>
          <p:nvPr/>
        </p:nvSpPr>
        <p:spPr>
          <a:xfrm>
            <a:off x="548640" y="685800"/>
            <a:ext cx="182880" cy="182880"/>
          </a:xfrm>
          <a:prstGeom prst="ellipse">
            <a:avLst/>
          </a:prstGeom>
          <a:solidFill>
            <a:schemeClr val="accent1"/>
          </a:solidFill>
          <a:ln w="12700">
            <a:solidFill>
              <a:schemeClr val="accent1"/>
            </a:solidFill>
            <a:prstDash val="solid"/>
          </a:ln>
        </p:spPr>
      </p:sp>
      <p:sp>
        <p:nvSpPr>
          <p:cNvPr id="6" name="motif1"/>
          <p:cNvSpPr/>
          <p:nvPr/>
        </p:nvSpPr>
        <p:spPr>
          <a:xfrm>
            <a:off x="877824" y="685800"/>
            <a:ext cx="182880" cy="182880"/>
          </a:xfrm>
          <a:prstGeom prst="ellipse">
            <a:avLst/>
          </a:prstGeom>
          <a:solidFill>
            <a:schemeClr val="accent1"/>
          </a:solidFill>
          <a:ln w="12700">
            <a:solidFill>
              <a:schemeClr val="accent1"/>
            </a:solidFill>
            <a:prstDash val="solid"/>
          </a:ln>
        </p:spPr>
      </p:sp>
      <p:sp>
        <p:nvSpPr>
          <p:cNvPr id="7" name="motif2"/>
          <p:cNvSpPr/>
          <p:nvPr/>
        </p:nvSpPr>
        <p:spPr>
          <a:xfrm>
            <a:off x="1207008" y="685800"/>
            <a:ext cx="182880" cy="182880"/>
          </a:xfrm>
          <a:prstGeom prst="ellipse">
            <a:avLst/>
          </a:prstGeom>
          <a:solidFill>
            <a:schemeClr val="bg1">
              <a:alpha val="0"/>
            </a:schemeClr>
          </a:solidFill>
          <a:ln w="25400">
            <a:solidFill>
              <a:schemeClr val="accent2"/>
            </a:solidFill>
            <a:prstDash val="solid"/>
          </a:ln>
        </p:spPr>
      </p:sp>
      <p:sp>
        <p:nvSpPr>
          <p:cNvPr id="8" name="motif3"/>
          <p:cNvSpPr/>
          <p:nvPr/>
        </p:nvSpPr>
        <p:spPr>
          <a:xfrm>
            <a:off x="1536192" y="685800"/>
            <a:ext cx="182880" cy="182880"/>
          </a:xfrm>
          <a:prstGeom prst="ellipse">
            <a:avLst/>
          </a:prstGeom>
          <a:solidFill>
            <a:schemeClr val="accent1"/>
          </a:solidFill>
          <a:ln w="12700">
            <a:solidFill>
              <a:schemeClr val="accent1"/>
            </a:solidFill>
            <a:prstDash val="solid"/>
          </a:ln>
        </p:spPr>
      </p:sp>
      <p:sp>
        <p:nvSpPr>
          <p:cNvPr id="9" name="motif4"/>
          <p:cNvSpPr/>
          <p:nvPr/>
        </p:nvSpPr>
        <p:spPr>
          <a:xfrm>
            <a:off x="1865376" y="685800"/>
            <a:ext cx="182880" cy="182880"/>
          </a:xfrm>
          <a:prstGeom prst="ellipse">
            <a:avLst/>
          </a:prstGeom>
          <a:solidFill>
            <a:schemeClr val="accent1"/>
          </a:solidFill>
          <a:ln w="12700">
            <a:solidFill>
              <a:schemeClr val="accent1"/>
            </a:solidFill>
            <a:prstDash val="solid"/>
          </a:ln>
        </p:spPr>
      </p:sp>
      <p:sp>
        <p:nvSpPr>
          <p:cNvPr id="10" name="motif5"/>
          <p:cNvSpPr/>
          <p:nvPr/>
        </p:nvSpPr>
        <p:spPr>
          <a:xfrm>
            <a:off x="2194560" y="685800"/>
            <a:ext cx="182880" cy="182880"/>
          </a:xfrm>
          <a:prstGeom prst="ellipse">
            <a:avLst/>
          </a:prstGeom>
          <a:solidFill>
            <a:schemeClr val="accent1"/>
          </a:solidFill>
          <a:ln w="12700">
            <a:solidFill>
              <a:schemeClr val="accent1"/>
            </a:solidFill>
            <a:prstDash val="solid"/>
          </a:ln>
        </p:spPr>
      </p:sp>
      <p:sp>
        <p:nvSpPr>
          <p:cNvPr id="11" name="motif6"/>
          <p:cNvSpPr/>
          <p:nvPr/>
        </p:nvSpPr>
        <p:spPr>
          <a:xfrm>
            <a:off x="2523744" y="685800"/>
            <a:ext cx="182880" cy="182880"/>
          </a:xfrm>
          <a:prstGeom prst="ellipse">
            <a:avLst/>
          </a:prstGeom>
          <a:solidFill>
            <a:schemeClr val="bg1">
              <a:alpha val="0"/>
            </a:schemeClr>
          </a:solidFill>
          <a:ln w="25400">
            <a:solidFill>
              <a:schemeClr val="accent2"/>
            </a:solidFill>
            <a:prstDash val="solid"/>
          </a:ln>
        </p:spPr>
      </p:sp>
      <p:sp>
        <p:nvSpPr>
          <p:cNvPr id="12" name="motif7"/>
          <p:cNvSpPr/>
          <p:nvPr/>
        </p:nvSpPr>
        <p:spPr>
          <a:xfrm>
            <a:off x="2852928" y="685800"/>
            <a:ext cx="182880" cy="182880"/>
          </a:xfrm>
          <a:prstGeom prst="ellipse">
            <a:avLst/>
          </a:prstGeom>
          <a:solidFill>
            <a:schemeClr val="bg1">
              <a:alpha val="0"/>
            </a:schemeClr>
          </a:solidFill>
          <a:ln w="25400">
            <a:solidFill>
              <a:schemeClr val="accent2"/>
            </a:solidFill>
            <a:prstDash val="solid"/>
          </a:ln>
        </p:spPr>
      </p:sp>
      <p:sp>
        <p:nvSpPr>
          <p:cNvPr id="13" name="motif8"/>
          <p:cNvSpPr/>
          <p:nvPr/>
        </p:nvSpPr>
        <p:spPr>
          <a:xfrm>
            <a:off x="3182112" y="685800"/>
            <a:ext cx="182880" cy="182880"/>
          </a:xfrm>
          <a:prstGeom prst="ellipse">
            <a:avLst/>
          </a:prstGeom>
          <a:solidFill>
            <a:schemeClr val="accent1"/>
          </a:solidFill>
          <a:ln w="12700">
            <a:solidFill>
              <a:schemeClr val="accent1"/>
            </a:solidFill>
            <a:prstDash val="solid"/>
          </a:ln>
        </p:spPr>
      </p:sp>
      <p:sp>
        <p:nvSpPr>
          <p:cNvPr id="14" name="motif9"/>
          <p:cNvSpPr/>
          <p:nvPr/>
        </p:nvSpPr>
        <p:spPr>
          <a:xfrm>
            <a:off x="3511296" y="685800"/>
            <a:ext cx="182880" cy="182880"/>
          </a:xfrm>
          <a:prstGeom prst="ellipse">
            <a:avLst/>
          </a:prstGeom>
          <a:solidFill>
            <a:schemeClr val="accent1"/>
          </a:solidFill>
          <a:ln w="12700">
            <a:solidFill>
              <a:schemeClr val="accent1"/>
            </a:solidFill>
            <a:prstDash val="solid"/>
          </a:ln>
        </p:spPr>
      </p:sp>
      <p:sp>
        <p:nvSpPr>
          <p:cNvPr id="15" name="motif10"/>
          <p:cNvSpPr/>
          <p:nvPr/>
        </p:nvSpPr>
        <p:spPr>
          <a:xfrm>
            <a:off x="3840480" y="685800"/>
            <a:ext cx="182880" cy="182880"/>
          </a:xfrm>
          <a:prstGeom prst="ellipse">
            <a:avLst/>
          </a:prstGeom>
          <a:solidFill>
            <a:schemeClr val="bg1">
              <a:alpha val="0"/>
            </a:schemeClr>
          </a:solidFill>
          <a:ln w="25400">
            <a:solidFill>
              <a:schemeClr val="accent2"/>
            </a:solidFill>
            <a:prstDash val="solid"/>
          </a:ln>
        </p:spPr>
      </p:sp>
      <p:sp>
        <p:nvSpPr>
          <p:cNvPr id="16" name="motif11"/>
          <p:cNvSpPr/>
          <p:nvPr/>
        </p:nvSpPr>
        <p:spPr>
          <a:xfrm>
            <a:off x="4169664" y="685800"/>
            <a:ext cx="182880" cy="182880"/>
          </a:xfrm>
          <a:prstGeom prst="ellipse">
            <a:avLst/>
          </a:prstGeom>
          <a:solidFill>
            <a:schemeClr val="accent1"/>
          </a:solidFill>
          <a:ln w="12700">
            <a:solidFill>
              <a:schemeClr val="accent1"/>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Classic fixes are fast but myopic</a:t>
            </a:r>
            <a:endParaRPr lang="en-US" sz="2800" dirty="0"/>
          </a:p>
        </p:txBody>
      </p:sp>
      <p:sp>
        <p:nvSpPr>
          <p:cNvPr id="4" name="Shape 1"/>
          <p:cNvSpPr/>
          <p:nvPr/>
        </p:nvSpPr>
        <p:spPr>
          <a:xfrm>
            <a:off x="457200" y="1143000"/>
            <a:ext cx="1892808" cy="1463040"/>
          </a:xfrm>
          <a:prstGeom prst="roundRect">
            <a:avLst>
              <a:gd name="adj" fmla="val 5000"/>
            </a:avLst>
          </a:prstGeom>
          <a:solidFill>
            <a:schemeClr val="bg2"/>
          </a:solidFill>
          <a:ln w="12700">
            <a:solidFill>
              <a:schemeClr val="bg2"/>
            </a:solidFill>
            <a:prstDash val="solid"/>
          </a:ln>
        </p:spPr>
      </p:sp>
      <p:sp>
        <p:nvSpPr>
          <p:cNvPr id="5" name="old0"/>
          <p:cNvSpPr/>
          <p:nvPr/>
        </p:nvSpPr>
        <p:spPr>
          <a:xfrm>
            <a:off x="640080" y="1298448"/>
            <a:ext cx="256032" cy="256032"/>
          </a:xfrm>
          <a:prstGeom prst="ellipse">
            <a:avLst/>
          </a:prstGeom>
          <a:solidFill>
            <a:schemeClr val="bg1">
              <a:alpha val="0"/>
            </a:schemeClr>
          </a:solidFill>
          <a:ln w="25400">
            <a:solidFill>
              <a:schemeClr val="accent2"/>
            </a:solidFill>
            <a:prstDash val="solid"/>
          </a:ln>
        </p:spPr>
      </p:sp>
      <p:sp>
        <p:nvSpPr>
          <p:cNvPr id="6" name="Text 3"/>
          <p:cNvSpPr txBox="1"/>
          <p:nvPr/>
        </p:nvSpPr>
        <p:spPr>
          <a:xfrm>
            <a:off x="640080" y="1645920"/>
            <a:ext cx="1600200" cy="320040"/>
          </a:xfrm>
          <a:prstGeom prst="rect">
            <a:avLst/>
          </a:prstGeom>
          <a:noFill/>
          <a:ln/>
        </p:spPr>
        <p:txBody>
          <a:bodyPr wrap="square" lIns="0" tIns="0" rIns="0" bIns="0" rtlCol="0" anchor="ctr"/>
          <a:lstStyle/>
          <a:p>
            <a:pPr indent="0" marL="0">
              <a:buNone/>
            </a:pPr>
            <a:r>
              <a:rPr lang="en-US" sz="1500" b="1" dirty="0">
                <a:solidFill>
                  <a:schemeClr val="tx1"/>
                </a:solidFill>
              </a:rPr>
              <a:t>Mean filling</a:t>
            </a:r>
            <a:endParaRPr lang="en-US" sz="1500" dirty="0"/>
          </a:p>
        </p:txBody>
      </p:sp>
      <p:sp>
        <p:nvSpPr>
          <p:cNvPr id="7" name="Text 4"/>
          <p:cNvSpPr txBox="1"/>
          <p:nvPr/>
        </p:nvSpPr>
        <p:spPr>
          <a:xfrm>
            <a:off x="640080" y="1965960"/>
            <a:ext cx="1600200" cy="548640"/>
          </a:xfrm>
          <a:prstGeom prst="rect">
            <a:avLst/>
          </a:prstGeom>
          <a:noFill/>
          <a:ln/>
        </p:spPr>
        <p:txBody>
          <a:bodyPr wrap="square" lIns="0" tIns="0" rIns="0" bIns="0" rtlCol="0" anchor="t"/>
          <a:lstStyle/>
          <a:p>
            <a:pPr indent="0" marL="0">
              <a:buNone/>
            </a:pPr>
            <a:r>
              <a:rPr lang="en-US" sz="1200" dirty="0">
                <a:solidFill>
                  <a:schemeClr val="accent4"/>
                </a:solidFill>
              </a:rPr>
              <a:t>Replace each gap with the column average</a:t>
            </a:r>
            <a:endParaRPr lang="en-US" sz="1200" dirty="0"/>
          </a:p>
        </p:txBody>
      </p:sp>
      <p:sp>
        <p:nvSpPr>
          <p:cNvPr id="8" name="Shape 5"/>
          <p:cNvSpPr/>
          <p:nvPr/>
        </p:nvSpPr>
        <p:spPr>
          <a:xfrm>
            <a:off x="2532888" y="1143000"/>
            <a:ext cx="1892808" cy="1463040"/>
          </a:xfrm>
          <a:prstGeom prst="roundRect">
            <a:avLst>
              <a:gd name="adj" fmla="val 5000"/>
            </a:avLst>
          </a:prstGeom>
          <a:solidFill>
            <a:schemeClr val="bg2"/>
          </a:solidFill>
          <a:ln w="12700">
            <a:solidFill>
              <a:schemeClr val="bg2"/>
            </a:solidFill>
            <a:prstDash val="solid"/>
          </a:ln>
        </p:spPr>
      </p:sp>
      <p:sp>
        <p:nvSpPr>
          <p:cNvPr id="9" name="old1"/>
          <p:cNvSpPr/>
          <p:nvPr/>
        </p:nvSpPr>
        <p:spPr>
          <a:xfrm>
            <a:off x="2715768" y="1298448"/>
            <a:ext cx="256032" cy="256032"/>
          </a:xfrm>
          <a:prstGeom prst="ellipse">
            <a:avLst/>
          </a:prstGeom>
          <a:solidFill>
            <a:schemeClr val="bg1">
              <a:alpha val="0"/>
            </a:schemeClr>
          </a:solidFill>
          <a:ln w="25400">
            <a:solidFill>
              <a:schemeClr val="accent2"/>
            </a:solidFill>
            <a:prstDash val="solid"/>
          </a:ln>
        </p:spPr>
      </p:sp>
      <p:sp>
        <p:nvSpPr>
          <p:cNvPr id="10" name="Text 7"/>
          <p:cNvSpPr txBox="1"/>
          <p:nvPr/>
        </p:nvSpPr>
        <p:spPr>
          <a:xfrm>
            <a:off x="2715768" y="1645920"/>
            <a:ext cx="1600200" cy="320040"/>
          </a:xfrm>
          <a:prstGeom prst="rect">
            <a:avLst/>
          </a:prstGeom>
          <a:noFill/>
          <a:ln/>
        </p:spPr>
        <p:txBody>
          <a:bodyPr wrap="square" lIns="0" tIns="0" rIns="0" bIns="0" rtlCol="0" anchor="ctr"/>
          <a:lstStyle/>
          <a:p>
            <a:pPr indent="0" marL="0">
              <a:buNone/>
            </a:pPr>
            <a:r>
              <a:rPr lang="en-US" sz="1500" b="1" dirty="0">
                <a:solidFill>
                  <a:schemeClr val="tx1"/>
                </a:solidFill>
              </a:rPr>
              <a:t>Last value forward</a:t>
            </a:r>
            <a:endParaRPr lang="en-US" sz="1500" dirty="0"/>
          </a:p>
        </p:txBody>
      </p:sp>
      <p:sp>
        <p:nvSpPr>
          <p:cNvPr id="11" name="Text 8"/>
          <p:cNvSpPr txBox="1"/>
          <p:nvPr/>
        </p:nvSpPr>
        <p:spPr>
          <a:xfrm>
            <a:off x="2715768" y="1965960"/>
            <a:ext cx="1600200" cy="548640"/>
          </a:xfrm>
          <a:prstGeom prst="rect">
            <a:avLst/>
          </a:prstGeom>
          <a:noFill/>
          <a:ln/>
        </p:spPr>
        <p:txBody>
          <a:bodyPr wrap="square" lIns="0" tIns="0" rIns="0" bIns="0" rtlCol="0" anchor="t"/>
          <a:lstStyle/>
          <a:p>
            <a:pPr indent="0" marL="0">
              <a:buNone/>
            </a:pPr>
            <a:r>
              <a:rPr lang="en-US" sz="1200" dirty="0">
                <a:solidFill>
                  <a:schemeClr val="accent4"/>
                </a:solidFill>
              </a:rPr>
              <a:t>Copy the previous reading</a:t>
            </a:r>
            <a:endParaRPr lang="en-US" sz="1200" dirty="0"/>
          </a:p>
        </p:txBody>
      </p:sp>
      <p:sp>
        <p:nvSpPr>
          <p:cNvPr id="12" name="Shape 9"/>
          <p:cNvSpPr/>
          <p:nvPr/>
        </p:nvSpPr>
        <p:spPr>
          <a:xfrm>
            <a:off x="4608576" y="1143000"/>
            <a:ext cx="1892808" cy="1463040"/>
          </a:xfrm>
          <a:prstGeom prst="roundRect">
            <a:avLst>
              <a:gd name="adj" fmla="val 5000"/>
            </a:avLst>
          </a:prstGeom>
          <a:solidFill>
            <a:schemeClr val="bg2"/>
          </a:solidFill>
          <a:ln w="12700">
            <a:solidFill>
              <a:schemeClr val="bg2"/>
            </a:solidFill>
            <a:prstDash val="solid"/>
          </a:ln>
        </p:spPr>
      </p:sp>
      <p:sp>
        <p:nvSpPr>
          <p:cNvPr id="13" name="old2"/>
          <p:cNvSpPr/>
          <p:nvPr/>
        </p:nvSpPr>
        <p:spPr>
          <a:xfrm>
            <a:off x="4791456" y="1298448"/>
            <a:ext cx="256032" cy="256032"/>
          </a:xfrm>
          <a:prstGeom prst="ellipse">
            <a:avLst/>
          </a:prstGeom>
          <a:solidFill>
            <a:schemeClr val="bg1">
              <a:alpha val="0"/>
            </a:schemeClr>
          </a:solidFill>
          <a:ln w="25400">
            <a:solidFill>
              <a:schemeClr val="accent2"/>
            </a:solidFill>
            <a:prstDash val="solid"/>
          </a:ln>
        </p:spPr>
      </p:sp>
      <p:sp>
        <p:nvSpPr>
          <p:cNvPr id="14" name="Text 11"/>
          <p:cNvSpPr txBox="1"/>
          <p:nvPr/>
        </p:nvSpPr>
        <p:spPr>
          <a:xfrm>
            <a:off x="4791456" y="1645920"/>
            <a:ext cx="1600200" cy="320040"/>
          </a:xfrm>
          <a:prstGeom prst="rect">
            <a:avLst/>
          </a:prstGeom>
          <a:noFill/>
          <a:ln/>
        </p:spPr>
        <p:txBody>
          <a:bodyPr wrap="square" lIns="0" tIns="0" rIns="0" bIns="0" rtlCol="0" anchor="ctr"/>
          <a:lstStyle/>
          <a:p>
            <a:pPr indent="0" marL="0">
              <a:buNone/>
            </a:pPr>
            <a:r>
              <a:rPr lang="en-US" sz="1500" b="1" dirty="0">
                <a:solidFill>
                  <a:schemeClr val="tx1"/>
                </a:solidFill>
              </a:rPr>
              <a:t>KNN</a:t>
            </a:r>
            <a:endParaRPr lang="en-US" sz="1500" dirty="0"/>
          </a:p>
        </p:txBody>
      </p:sp>
      <p:sp>
        <p:nvSpPr>
          <p:cNvPr id="15" name="Text 12"/>
          <p:cNvSpPr txBox="1"/>
          <p:nvPr/>
        </p:nvSpPr>
        <p:spPr>
          <a:xfrm>
            <a:off x="4791456" y="1965960"/>
            <a:ext cx="1600200" cy="548640"/>
          </a:xfrm>
          <a:prstGeom prst="rect">
            <a:avLst/>
          </a:prstGeom>
          <a:noFill/>
          <a:ln/>
        </p:spPr>
        <p:txBody>
          <a:bodyPr wrap="square" lIns="0" tIns="0" rIns="0" bIns="0" rtlCol="0" anchor="t"/>
          <a:lstStyle/>
          <a:p>
            <a:pPr indent="0" marL="0">
              <a:buNone/>
            </a:pPr>
            <a:r>
              <a:rPr lang="en-US" sz="1200" dirty="0">
                <a:solidFill>
                  <a:schemeClr val="accent4"/>
                </a:solidFill>
              </a:rPr>
              <a:t>Borrow from the most similar rows</a:t>
            </a:r>
            <a:endParaRPr lang="en-US" sz="1200" dirty="0"/>
          </a:p>
        </p:txBody>
      </p:sp>
      <p:sp>
        <p:nvSpPr>
          <p:cNvPr id="16" name="Shape 13"/>
          <p:cNvSpPr/>
          <p:nvPr/>
        </p:nvSpPr>
        <p:spPr>
          <a:xfrm>
            <a:off x="6684264" y="1143000"/>
            <a:ext cx="1892808" cy="1463040"/>
          </a:xfrm>
          <a:prstGeom prst="roundRect">
            <a:avLst>
              <a:gd name="adj" fmla="val 5000"/>
            </a:avLst>
          </a:prstGeom>
          <a:solidFill>
            <a:schemeClr val="bg2"/>
          </a:solidFill>
          <a:ln w="12700">
            <a:solidFill>
              <a:schemeClr val="bg2"/>
            </a:solidFill>
            <a:prstDash val="solid"/>
          </a:ln>
        </p:spPr>
      </p:sp>
      <p:sp>
        <p:nvSpPr>
          <p:cNvPr id="17" name="old3"/>
          <p:cNvSpPr/>
          <p:nvPr/>
        </p:nvSpPr>
        <p:spPr>
          <a:xfrm>
            <a:off x="6867144" y="1298448"/>
            <a:ext cx="256032" cy="256032"/>
          </a:xfrm>
          <a:prstGeom prst="ellipse">
            <a:avLst/>
          </a:prstGeom>
          <a:solidFill>
            <a:schemeClr val="bg1">
              <a:alpha val="0"/>
            </a:schemeClr>
          </a:solidFill>
          <a:ln w="25400">
            <a:solidFill>
              <a:schemeClr val="accent2"/>
            </a:solidFill>
            <a:prstDash val="solid"/>
          </a:ln>
        </p:spPr>
      </p:sp>
      <p:sp>
        <p:nvSpPr>
          <p:cNvPr id="18" name="Text 15"/>
          <p:cNvSpPr txBox="1"/>
          <p:nvPr/>
        </p:nvSpPr>
        <p:spPr>
          <a:xfrm>
            <a:off x="6867144" y="1645920"/>
            <a:ext cx="1600200" cy="320040"/>
          </a:xfrm>
          <a:prstGeom prst="rect">
            <a:avLst/>
          </a:prstGeom>
          <a:noFill/>
          <a:ln/>
        </p:spPr>
        <p:txBody>
          <a:bodyPr wrap="square" lIns="0" tIns="0" rIns="0" bIns="0" rtlCol="0" anchor="ctr"/>
          <a:lstStyle/>
          <a:p>
            <a:pPr indent="0" marL="0">
              <a:buNone/>
            </a:pPr>
            <a:r>
              <a:rPr lang="en-US" sz="1500" b="1" dirty="0">
                <a:solidFill>
                  <a:schemeClr val="tx1"/>
                </a:solidFill>
              </a:rPr>
              <a:t>MICE</a:t>
            </a:r>
            <a:endParaRPr lang="en-US" sz="1500" dirty="0"/>
          </a:p>
        </p:txBody>
      </p:sp>
      <p:sp>
        <p:nvSpPr>
          <p:cNvPr id="19" name="Text 16"/>
          <p:cNvSpPr txBox="1"/>
          <p:nvPr/>
        </p:nvSpPr>
        <p:spPr>
          <a:xfrm>
            <a:off x="6867144" y="1965960"/>
            <a:ext cx="1600200" cy="548640"/>
          </a:xfrm>
          <a:prstGeom prst="rect">
            <a:avLst/>
          </a:prstGeom>
          <a:noFill/>
          <a:ln/>
        </p:spPr>
        <p:txBody>
          <a:bodyPr wrap="square" lIns="0" tIns="0" rIns="0" bIns="0" rtlCol="0" anchor="t"/>
          <a:lstStyle/>
          <a:p>
            <a:pPr indent="0" marL="0">
              <a:buNone/>
            </a:pPr>
            <a:r>
              <a:rPr lang="en-US" sz="1200" dirty="0">
                <a:solidFill>
                  <a:schemeClr val="accent4"/>
                </a:solidFill>
              </a:rPr>
              <a:t>Chained regressions per variable</a:t>
            </a:r>
            <a:endParaRPr lang="en-US" sz="1200" dirty="0"/>
          </a:p>
        </p:txBody>
      </p:sp>
      <p:sp>
        <p:nvSpPr>
          <p:cNvPr id="20" name="Shape 17"/>
          <p:cNvSpPr/>
          <p:nvPr/>
        </p:nvSpPr>
        <p:spPr>
          <a:xfrm>
            <a:off x="457200" y="2880360"/>
            <a:ext cx="8229600" cy="1600200"/>
          </a:xfrm>
          <a:prstGeom prst="roundRect">
            <a:avLst>
              <a:gd name="adj" fmla="val 4571"/>
            </a:avLst>
          </a:prstGeom>
          <a:solidFill>
            <a:schemeClr val="tx1"/>
          </a:solidFill>
          <a:ln w="12700">
            <a:solidFill>
              <a:schemeClr val="tx1"/>
            </a:solidFill>
            <a:prstDash val="solid"/>
          </a:ln>
        </p:spPr>
      </p:sp>
      <p:sp>
        <p:nvSpPr>
          <p:cNvPr id="21" name="Text 18"/>
          <p:cNvSpPr txBox="1"/>
          <p:nvPr/>
        </p:nvSpPr>
        <p:spPr>
          <a:xfrm>
            <a:off x="731520" y="3017520"/>
            <a:ext cx="7680960" cy="365760"/>
          </a:xfrm>
          <a:prstGeom prst="rect">
            <a:avLst/>
          </a:prstGeom>
          <a:noFill/>
          <a:ln/>
        </p:spPr>
        <p:txBody>
          <a:bodyPr wrap="square" lIns="0" tIns="0" rIns="0" bIns="0" rtlCol="0" anchor="ctr"/>
          <a:lstStyle/>
          <a:p>
            <a:pPr indent="0" marL="0">
              <a:buNone/>
            </a:pPr>
            <a:r>
              <a:rPr lang="en-US" sz="1600" b="1" dirty="0">
                <a:solidFill>
                  <a:schemeClr val="accent2"/>
                </a:solidFill>
              </a:rPr>
              <a:t>What they miss</a:t>
            </a:r>
            <a:endParaRPr lang="en-US" sz="1600" dirty="0"/>
          </a:p>
        </p:txBody>
      </p:sp>
      <p:sp>
        <p:nvSpPr>
          <p:cNvPr id="22" name="Text 19"/>
          <p:cNvSpPr txBox="1"/>
          <p:nvPr/>
        </p:nvSpPr>
        <p:spPr>
          <a:xfrm>
            <a:off x="731520" y="3429000"/>
            <a:ext cx="7680960" cy="96012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bg1"/>
                </a:solidFill>
              </a:rPr>
              <a:t>How values evolve through time (trends, rhythms, sudden shifts)</a:t>
            </a:r>
            <a:endParaRPr lang="en-US" sz="1400" dirty="0"/>
          </a:p>
          <a:p>
            <a:pPr marL="342900" indent="-342900">
              <a:spcAft>
                <a:spcPts val="400"/>
              </a:spcAft>
              <a:buSzPct val="100000"/>
              <a:buChar char="•"/>
            </a:pPr>
            <a:r>
              <a:rPr lang="en-US" sz="1400" dirty="0">
                <a:solidFill>
                  <a:schemeClr val="bg1"/>
                </a:solidFill>
              </a:rPr>
              <a:t>How variables move together (falling BP with a rising heart rate)</a:t>
            </a:r>
            <a:endParaRPr lang="en-US" sz="1400" dirty="0"/>
          </a:p>
          <a:p>
            <a:pPr marL="342900" indent="-342900">
              <a:spcAft>
                <a:spcPts val="400"/>
              </a:spcAft>
              <a:buSzPct val="100000"/>
              <a:buChar char="•"/>
            </a:pPr>
            <a:r>
              <a:rPr lang="en-US" sz="1400" dirty="0">
                <a:solidFill>
                  <a:schemeClr val="bg1"/>
                </a:solidFill>
              </a:rPr>
              <a:t>Why the value is missing in the first place</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First question: why is the value missing?</a:t>
            </a:r>
            <a:endParaRPr lang="en-US" sz="2800" dirty="0"/>
          </a:p>
        </p:txBody>
      </p:sp>
      <p:pic>
        <p:nvPicPr>
          <p:cNvPr id="4" name="fig2" descr="/home/claude/cmpe255-short-story/figures/fig2_missingness_mechanisms.png">    </p:cNvPr>
          <p:cNvPicPr>
            <a:picLocks noChangeAspect="1"/>
          </p:cNvPicPr>
          <p:nvPr/>
        </p:nvPicPr>
        <p:blipFill>
          <a:blip r:embed="rId1"/>
          <a:stretch>
            <a:fillRect/>
          </a:stretch>
        </p:blipFill>
        <p:spPr>
          <a:xfrm>
            <a:off x="457200" y="1005840"/>
            <a:ext cx="8229600" cy="3017520"/>
          </a:xfrm>
          <a:prstGeom prst="rect">
            <a:avLst/>
          </a:prstGeom>
        </p:spPr>
      </p:pic>
      <p:sp>
        <p:nvSpPr>
          <p:cNvPr id="5" name="Text 1"/>
          <p:cNvSpPr txBox="1"/>
          <p:nvPr/>
        </p:nvSpPr>
        <p:spPr>
          <a:xfrm>
            <a:off x="457200" y="4160520"/>
            <a:ext cx="8229600" cy="457200"/>
          </a:xfrm>
          <a:prstGeom prst="rect">
            <a:avLst/>
          </a:prstGeom>
          <a:noFill/>
          <a:ln/>
        </p:spPr>
        <p:txBody>
          <a:bodyPr wrap="square" lIns="0" tIns="0" rIns="0" bIns="0" rtlCol="0" anchor="ctr"/>
          <a:lstStyle/>
          <a:p>
            <a:pPr indent="0" marL="0">
              <a:buNone/>
            </a:pPr>
            <a:r>
              <a:rPr lang="en-US" sz="1300" dirty="0">
                <a:solidFill>
                  <a:schemeClr val="accent4"/>
                </a:solidFill>
              </a:rPr>
              <a:t>MCAR and MAR: learn from observed values alone.  MNAR: must model data and mask together, or estimates become biased.</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A two-axis map of 30+ deep imputers</a:t>
            </a:r>
            <a:endParaRPr lang="en-US" sz="2800" dirty="0"/>
          </a:p>
        </p:txBody>
      </p:sp>
      <p:pic>
        <p:nvPicPr>
          <p:cNvPr id="4" name="fig3" descr="/home/claude/cmpe255-short-story/figures/fig3_taxonomy.png">    </p:cNvPr>
          <p:cNvPicPr>
            <a:picLocks noChangeAspect="1"/>
          </p:cNvPicPr>
          <p:nvPr/>
        </p:nvPicPr>
        <p:blipFill>
          <a:blip r:embed="rId1"/>
          <a:stretch>
            <a:fillRect/>
          </a:stretch>
        </p:blipFill>
        <p:spPr>
          <a:xfrm>
            <a:off x="457200" y="960120"/>
            <a:ext cx="6583680" cy="3676466"/>
          </a:xfrm>
          <a:prstGeom prst="rect">
            <a:avLst/>
          </a:prstGeom>
        </p:spPr>
      </p:pic>
      <p:sp>
        <p:nvSpPr>
          <p:cNvPr id="5" name="Text 1"/>
          <p:cNvSpPr txBox="1"/>
          <p:nvPr/>
        </p:nvSpPr>
        <p:spPr>
          <a:xfrm>
            <a:off x="7223760" y="1097280"/>
            <a:ext cx="1554480" cy="3291840"/>
          </a:xfrm>
          <a:prstGeom prst="rect">
            <a:avLst/>
          </a:prstGeom>
          <a:noFill/>
          <a:ln/>
        </p:spPr>
        <p:txBody>
          <a:bodyPr wrap="square" lIns="0" tIns="0" rIns="0" bIns="0" rtlCol="0" anchor="t"/>
          <a:lstStyle/>
          <a:p>
            <a:pPr indent="0" marL="0">
              <a:buNone/>
            </a:pPr>
            <a:r>
              <a:rPr lang="en-US" sz="1200" b="1" dirty="0">
                <a:solidFill>
                  <a:schemeClr val="accent1"/>
                </a:solidFill>
              </a:rPr>
              <a:t>Columns</a:t>
            </a:r>
            <a:endParaRPr lang="en-US" sz="1200" dirty="0"/>
          </a:p>
          <a:p>
            <a:pPr indent="0" marL="0">
              <a:buNone/>
            </a:pPr>
            <a:r>
              <a:rPr lang="en-US" sz="1200" dirty="0">
                <a:solidFill>
                  <a:schemeClr val="tx1"/>
                </a:solidFill>
              </a:rPr>
              <a:t>What the model outputs: one guess, a distribution, or a pre-trained model's answer</a:t>
            </a:r>
            <a:endParaRPr lang="en-US" sz="1200" dirty="0"/>
          </a:p>
          <a:p>
            <a:pPr indent="0" marL="0">
              <a:buNone/>
            </a:pPr>
            <a:r>
              <a:rPr lang="en-US" sz="600" dirty="0">
                <a:solidFill>
                  <a:schemeClr val="tx1"/>
                </a:solidFill>
              </a:rPr>
              <a:t> </a:t>
            </a:r>
            <a:endParaRPr lang="en-US" sz="1200" dirty="0"/>
          </a:p>
          <a:p>
            <a:pPr indent="0" marL="0">
              <a:buNone/>
            </a:pPr>
            <a:r>
              <a:rPr lang="en-US" sz="1200" b="1" dirty="0">
                <a:solidFill>
                  <a:schemeClr val="accent2"/>
                </a:solidFill>
              </a:rPr>
              <a:t>Rows</a:t>
            </a:r>
            <a:endParaRPr lang="en-US" sz="1200" dirty="0"/>
          </a:p>
          <a:p>
            <a:pPr indent="0" marL="0">
              <a:buNone/>
            </a:pPr>
            <a:r>
              <a:rPr lang="en-US" sz="1200" dirty="0">
                <a:solidFill>
                  <a:schemeClr val="tx1"/>
                </a:solidFill>
              </a:rPr>
              <a:t>Which neural network family does the work</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Every family trades something away</a:t>
            </a:r>
            <a:endParaRPr lang="en-US" sz="2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914400"/>
        </p:xfrm>
        <a:graphic>
          <a:graphicData uri="http://schemas.openxmlformats.org/drawingml/2006/table">
            <a:tbl>
              <a:tblPr/>
              <a:tblGrid>
                <a:gridCol w="1280160"/>
                <a:gridCol w="1828800"/>
                <a:gridCol w="2651760"/>
                <a:gridCol w="2468880"/>
              </a:tblGrid>
              <a:tr h="365760">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Family</a:t>
                      </a:r>
                      <a:endParaRPr lang="en-US" sz="1200" dirty="0">
                        <a:latin typeface="Calibri" charset="0"/>
                        <a:ea typeface="Calibri" charset="0"/>
                        <a:cs typeface="Calibri" charset="0"/>
                      </a:endParaRPr>
                    </a:p>
                  </a:txBody>
                  <a:tcPr marL="54864" marR="54864" marT="54864" marB="54864" anchor="ctr">
                    <a:lnL w="6350" cap="flat" cmpd="sng" algn="ctr">
                      <a:solidFill>
                        <a:srgbClr val="DCE3E8"/>
                      </a:solidFill>
                      <a:prstDash val="solid"/>
                      <a:round/>
                      <a:headEnd type="none" w="med" len="med"/>
                      <a:tailEnd type="none" w="med" len="med"/>
                    </a:lnL>
                    <a:lnR w="6350" cap="flat" cmpd="sng" algn="ctr">
                      <a:solidFill>
                        <a:srgbClr val="DCE3E8"/>
                      </a:solidFill>
                      <a:prstDash val="solid"/>
                      <a:round/>
                      <a:headEnd type="none" w="med" len="med"/>
                      <a:tailEnd type="none" w="med" len="med"/>
                    </a:lnR>
                    <a:lnT w="6350" cap="flat" cmpd="sng" algn="ctr">
                      <a:solidFill>
                        <a:srgbClr val="DCE3E8"/>
                      </a:solidFill>
                      <a:prstDash val="solid"/>
                      <a:round/>
                      <a:headEnd type="none" w="med" len="med"/>
                      <a:tailEnd type="none" w="med" len="med"/>
                    </a:lnT>
                    <a:lnB w="6350" cap="flat" cmpd="sng" algn="ctr">
                      <a:solidFill>
                        <a:srgbClr val="DCE3E8"/>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Examples</a:t>
                      </a:r>
                      <a:endParaRPr lang="en-US" sz="1200" dirty="0">
                        <a:latin typeface="Calibri" charset="0"/>
                        <a:ea typeface="Calibri" charset="0"/>
                        <a:cs typeface="Calibri" charset="0"/>
                      </a:endParaRPr>
                    </a:p>
                  </a:txBody>
                  <a:tcPr marL="54864" marR="54864" marT="54864" marB="54864" anchor="ctr">
                    <a:lnL w="6350" cap="flat" cmpd="sng" algn="ctr">
                      <a:solidFill>
                        <a:srgbClr val="DCE3E8"/>
                      </a:solidFill>
                      <a:prstDash val="solid"/>
                      <a:round/>
                      <a:headEnd type="none" w="med" len="med"/>
                      <a:tailEnd type="none" w="med" len="med"/>
                    </a:lnL>
                    <a:lnR w="6350" cap="flat" cmpd="sng" algn="ctr">
                      <a:solidFill>
                        <a:srgbClr val="DCE3E8"/>
                      </a:solidFill>
                      <a:prstDash val="solid"/>
                      <a:round/>
                      <a:headEnd type="none" w="med" len="med"/>
                      <a:tailEnd type="none" w="med" len="med"/>
                    </a:lnR>
                    <a:lnT w="6350" cap="flat" cmpd="sng" algn="ctr">
                      <a:solidFill>
                        <a:srgbClr val="DCE3E8"/>
                      </a:solidFill>
                      <a:prstDash val="solid"/>
                      <a:round/>
                      <a:headEnd type="none" w="med" len="med"/>
                      <a:tailEnd type="none" w="med" len="med"/>
                    </a:lnT>
                    <a:lnB w="6350" cap="flat" cmpd="sng" algn="ctr">
                      <a:solidFill>
                        <a:srgbClr val="DCE3E8"/>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Strength</a:t>
                      </a:r>
                      <a:endParaRPr lang="en-US" sz="1200" dirty="0">
                        <a:latin typeface="Calibri" charset="0"/>
                        <a:ea typeface="Calibri" charset="0"/>
                        <a:cs typeface="Calibri" charset="0"/>
                      </a:endParaRPr>
                    </a:p>
                  </a:txBody>
                  <a:tcPr marL="54864" marR="54864" marT="54864" marB="54864" anchor="ctr">
                    <a:lnL w="6350" cap="flat" cmpd="sng" algn="ctr">
                      <a:solidFill>
                        <a:srgbClr val="DCE3E8"/>
                      </a:solidFill>
                      <a:prstDash val="solid"/>
                      <a:round/>
                      <a:headEnd type="none" w="med" len="med"/>
                      <a:tailEnd type="none" w="med" len="med"/>
                    </a:lnL>
                    <a:lnR w="6350" cap="flat" cmpd="sng" algn="ctr">
                      <a:solidFill>
                        <a:srgbClr val="DCE3E8"/>
                      </a:solidFill>
                      <a:prstDash val="solid"/>
                      <a:round/>
                      <a:headEnd type="none" w="med" len="med"/>
                      <a:tailEnd type="none" w="med" len="med"/>
                    </a:lnR>
                    <a:lnT w="6350" cap="flat" cmpd="sng" algn="ctr">
                      <a:solidFill>
                        <a:srgbClr val="DCE3E8"/>
                      </a:solidFill>
                      <a:prstDash val="solid"/>
                      <a:round/>
                      <a:headEnd type="none" w="med" len="med"/>
                      <a:tailEnd type="none" w="med" len="med"/>
                    </a:lnT>
                    <a:lnB w="6350" cap="flat" cmpd="sng" algn="ctr">
                      <a:solidFill>
                        <a:srgbClr val="DCE3E8"/>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Weakness</a:t>
                      </a:r>
                      <a:endParaRPr lang="en-US" sz="1200" dirty="0">
                        <a:latin typeface="Calibri" charset="0"/>
                        <a:ea typeface="Calibri" charset="0"/>
                        <a:cs typeface="Calibri" charset="0"/>
                      </a:endParaRPr>
                    </a:p>
                  </a:txBody>
                  <a:tcPr marL="54864" marR="54864" marT="54864" marB="54864" anchor="ctr">
                    <a:lnL w="6350" cap="flat" cmpd="sng" algn="ctr">
                      <a:solidFill>
                        <a:srgbClr val="DCE3E8"/>
                      </a:solidFill>
                      <a:prstDash val="solid"/>
                      <a:round/>
                      <a:headEnd type="none" w="med" len="med"/>
                      <a:tailEnd type="none" w="med" len="med"/>
                    </a:lnL>
                    <a:lnR w="6350" cap="flat" cmpd="sng" algn="ctr">
                      <a:solidFill>
                        <a:srgbClr val="DCE3E8"/>
                      </a:solidFill>
                      <a:prstDash val="solid"/>
                      <a:round/>
                      <a:headEnd type="none" w="med" len="med"/>
                      <a:tailEnd type="none" w="med" len="med"/>
                    </a:lnR>
                    <a:lnT w="6350" cap="flat" cmpd="sng" algn="ctr">
                      <a:solidFill>
                        <a:srgbClr val="DCE3E8"/>
                      </a:solidFill>
                      <a:prstDash val="solid"/>
                      <a:round/>
                      <a:headEnd type="none" w="med" len="med"/>
                      <a:tailEnd type="none" w="med" len="med"/>
                    </a:lnT>
                    <a:lnB w="6350" cap="flat" cmpd="sng" algn="ctr">
                      <a:solidFill>
                        <a:srgbClr val="DCE3E8"/>
                      </a:solidFill>
                      <a:prstDash val="solid"/>
                      <a:round/>
                      <a:headEnd type="none" w="med" len="med"/>
                      <a:tailEnd type="none" w="med" len="med"/>
                    </a:lnB>
                    <a:solidFill>
                      <a:schemeClr val="tx1"/>
                    </a:solidFill>
                  </a:tcPr>
                </a:tc>
              </a:tr>
              <a:tr h="365760">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RNN</a:t>
                      </a:r>
                      <a:endParaRPr lang="en-US" sz="1200" dirty="0">
                        <a:latin typeface="Calibri" charset="0"/>
                        <a:ea typeface="Calibri" charset="0"/>
                        <a:cs typeface="Calibri" charset="0"/>
                      </a:endParaRPr>
                    </a:p>
                  </a:txBody>
                  <a:tcPr marL="54864" marR="54864" marT="54864" marB="54864" anchor="ctr">
                    <a:lnL w="6350" cap="flat" cmpd="sng" algn="ctr">
                      <a:solidFill>
                        <a:srgbClr val="DCE3E8"/>
                      </a:solidFill>
                      <a:prstDash val="solid"/>
                      <a:round/>
                      <a:headEnd type="none" w="med" len="med"/>
                      <a:tailEnd type="none" w="med" len="med"/>
                    </a:lnL>
                    <a:lnR w="6350" cap="flat" cmpd="sng" algn="ctr">
                      <a:solidFill>
                        <a:srgbClr val="DCE3E8"/>
                      </a:solidFill>
                      <a:prstDash val="solid"/>
                      <a:round/>
                      <a:headEnd type="none" w="med" len="med"/>
                      <a:tailEnd type="none" w="med" len="med"/>
                    </a:lnR>
                    <a:lnT w="6350" cap="flat" cmpd="sng" algn="ctr">
                      <a:solidFill>
                        <a:srgbClr val="DCE3E8"/>
                      </a:solidFill>
                      <a:prstDash val="solid"/>
                      <a:round/>
                      <a:headEnd type="none" w="med" len="med"/>
                      <a:tailEnd type="none" w="med" len="med"/>
                    </a:lnT>
                    <a:lnB w="6350" cap="flat" cmpd="sng" algn="ctr">
                      <a:solidFill>
                        <a:srgbClr val="DCE3E8"/>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GRU-D, BRITS</a:t>
                      </a:r>
                      <a:endParaRPr lang="en-US" sz="1200" dirty="0">
                        <a:latin typeface="Calibri" charset="0"/>
                        <a:ea typeface="Calibri" charset="0"/>
                        <a:cs typeface="Calibri" charset="0"/>
                      </a:endParaRPr>
                    </a:p>
                  </a:txBody>
                  <a:tcPr marL="54864" marR="54864" marT="54864" marB="54864" anchor="ctr">
                    <a:lnL w="6350" cap="flat" cmpd="sng" algn="ctr">
                      <a:solidFill>
                        <a:srgbClr val="DCE3E8"/>
                      </a:solidFill>
                      <a:prstDash val="solid"/>
                      <a:round/>
                      <a:headEnd type="none" w="med" len="med"/>
                      <a:tailEnd type="none" w="med" len="med"/>
                    </a:lnL>
                    <a:lnR w="6350" cap="flat" cmpd="sng" algn="ctr">
                      <a:solidFill>
                        <a:srgbClr val="DCE3E8"/>
                      </a:solidFill>
                      <a:prstDash val="solid"/>
                      <a:round/>
                      <a:headEnd type="none" w="med" len="med"/>
                      <a:tailEnd type="none" w="med" len="med"/>
                    </a:lnR>
                    <a:lnT w="6350" cap="flat" cmpd="sng" algn="ctr">
                      <a:solidFill>
                        <a:srgbClr val="DCE3E8"/>
                      </a:solidFill>
                      <a:prstDash val="solid"/>
                      <a:round/>
                      <a:headEnd type="none" w="med" len="med"/>
                      <a:tailEnd type="none" w="med" len="med"/>
                    </a:lnT>
                    <a:lnB w="6350" cap="flat" cmpd="sng" algn="ctr">
                      <a:solidFill>
                        <a:srgbClr val="DCE3E8"/>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Natural fit for sequences</a:t>
                      </a:r>
                      <a:endParaRPr lang="en-US" sz="1200" dirty="0">
                        <a:latin typeface="Calibri" charset="0"/>
                        <a:ea typeface="Calibri" charset="0"/>
                        <a:cs typeface="Calibri" charset="0"/>
                      </a:endParaRPr>
                    </a:p>
                  </a:txBody>
                  <a:tcPr marL="54864" marR="54864" marT="54864" marB="54864" anchor="ctr">
                    <a:lnL w="6350" cap="flat" cmpd="sng" algn="ctr">
                      <a:solidFill>
                        <a:srgbClr val="DCE3E8"/>
                      </a:solidFill>
                      <a:prstDash val="solid"/>
                      <a:round/>
                      <a:headEnd type="none" w="med" len="med"/>
                      <a:tailEnd type="none" w="med" len="med"/>
                    </a:lnL>
                    <a:lnR w="6350" cap="flat" cmpd="sng" algn="ctr">
                      <a:solidFill>
                        <a:srgbClr val="DCE3E8"/>
                      </a:solidFill>
                      <a:prstDash val="solid"/>
                      <a:round/>
                      <a:headEnd type="none" w="med" len="med"/>
                      <a:tailEnd type="none" w="med" len="med"/>
                    </a:lnR>
                    <a:lnT w="6350" cap="flat" cmpd="sng" algn="ctr">
                      <a:solidFill>
                        <a:srgbClr val="DCE3E8"/>
                      </a:solidFill>
                      <a:prstDash val="solid"/>
                      <a:round/>
                      <a:headEnd type="none" w="med" len="med"/>
                      <a:tailEnd type="none" w="med" len="med"/>
                    </a:lnT>
                    <a:lnB w="6350" cap="flat" cmpd="sng" algn="ctr">
                      <a:solidFill>
                        <a:srgbClr val="DCE3E8"/>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Slow on long series</a:t>
                      </a:r>
                      <a:endParaRPr lang="en-US" sz="1200" dirty="0">
                        <a:latin typeface="Calibri" charset="0"/>
                        <a:ea typeface="Calibri" charset="0"/>
                        <a:cs typeface="Calibri" charset="0"/>
                      </a:endParaRPr>
                    </a:p>
                  </a:txBody>
                  <a:tcPr marL="54864" marR="54864" marT="54864" marB="54864" anchor="ctr">
                    <a:lnL w="6350" cap="flat" cmpd="sng" algn="ctr">
                      <a:solidFill>
                        <a:srgbClr val="DCE3E8"/>
                      </a:solidFill>
                      <a:prstDash val="solid"/>
                      <a:round/>
                      <a:headEnd type="none" w="med" len="med"/>
                      <a:tailEnd type="none" w="med" len="med"/>
                    </a:lnL>
                    <a:lnR w="6350" cap="flat" cmpd="sng" algn="ctr">
                      <a:solidFill>
                        <a:srgbClr val="DCE3E8"/>
                      </a:solidFill>
                      <a:prstDash val="solid"/>
                      <a:round/>
                      <a:headEnd type="none" w="med" len="med"/>
                      <a:tailEnd type="none" w="med" len="med"/>
                    </a:lnR>
                    <a:lnT w="6350" cap="flat" cmpd="sng" algn="ctr">
                      <a:solidFill>
                        <a:srgbClr val="DCE3E8"/>
                      </a:solidFill>
                      <a:prstDash val="solid"/>
                      <a:round/>
                      <a:headEnd type="none" w="med" len="med"/>
                      <a:tailEnd type="none" w="med" len="med"/>
                    </a:lnT>
                    <a:lnB w="6350" cap="flat" cmpd="sng" algn="ctr">
                      <a:solidFill>
                        <a:srgbClr val="DCE3E8"/>
                      </a:solidFill>
                      <a:prstDash val="solid"/>
                      <a:round/>
                      <a:headEnd type="none" w="med" len="med"/>
                      <a:tailEnd type="none" w="med" len="med"/>
                    </a:lnB>
                  </a:tcPr>
                </a:tc>
              </a:tr>
              <a:tr h="365760">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CNN</a:t>
                      </a:r>
                      <a:endParaRPr lang="en-US" sz="1200" dirty="0">
                        <a:latin typeface="Calibri" charset="0"/>
                        <a:ea typeface="Calibri" charset="0"/>
                        <a:cs typeface="Calibri" charset="0"/>
                      </a:endParaRPr>
                    </a:p>
                  </a:txBody>
                  <a:tcPr marL="54864" marR="54864" marT="54864" marB="54864" anchor="ctr">
                    <a:lnL w="6350" cap="flat" cmpd="sng" algn="ctr">
                      <a:solidFill>
                        <a:srgbClr val="DCE3E8"/>
                      </a:solidFill>
                      <a:prstDash val="solid"/>
                      <a:round/>
                      <a:headEnd type="none" w="med" len="med"/>
                      <a:tailEnd type="none" w="med" len="med"/>
                    </a:lnL>
                    <a:lnR w="6350" cap="flat" cmpd="sng" algn="ctr">
                      <a:solidFill>
                        <a:srgbClr val="DCE3E8"/>
                      </a:solidFill>
                      <a:prstDash val="solid"/>
                      <a:round/>
                      <a:headEnd type="none" w="med" len="med"/>
                      <a:tailEnd type="none" w="med" len="med"/>
                    </a:lnR>
                    <a:lnT w="6350" cap="flat" cmpd="sng" algn="ctr">
                      <a:solidFill>
                        <a:srgbClr val="DCE3E8"/>
                      </a:solidFill>
                      <a:prstDash val="solid"/>
                      <a:round/>
                      <a:headEnd type="none" w="med" len="med"/>
                      <a:tailEnd type="none" w="med" len="med"/>
                    </a:lnT>
                    <a:lnB w="6350" cap="flat" cmpd="sng" algn="ctr">
                      <a:solidFill>
                        <a:srgbClr val="DCE3E8"/>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TimesNet</a:t>
                      </a:r>
                      <a:endParaRPr lang="en-US" sz="1200" dirty="0">
                        <a:latin typeface="Calibri" charset="0"/>
                        <a:ea typeface="Calibri" charset="0"/>
                        <a:cs typeface="Calibri" charset="0"/>
                      </a:endParaRPr>
                    </a:p>
                  </a:txBody>
                  <a:tcPr marL="54864" marR="54864" marT="54864" marB="54864" anchor="ctr">
                    <a:lnL w="6350" cap="flat" cmpd="sng" algn="ctr">
                      <a:solidFill>
                        <a:srgbClr val="DCE3E8"/>
                      </a:solidFill>
                      <a:prstDash val="solid"/>
                      <a:round/>
                      <a:headEnd type="none" w="med" len="med"/>
                      <a:tailEnd type="none" w="med" len="med"/>
                    </a:lnL>
                    <a:lnR w="6350" cap="flat" cmpd="sng" algn="ctr">
                      <a:solidFill>
                        <a:srgbClr val="DCE3E8"/>
                      </a:solidFill>
                      <a:prstDash val="solid"/>
                      <a:round/>
                      <a:headEnd type="none" w="med" len="med"/>
                      <a:tailEnd type="none" w="med" len="med"/>
                    </a:lnR>
                    <a:lnT w="6350" cap="flat" cmpd="sng" algn="ctr">
                      <a:solidFill>
                        <a:srgbClr val="DCE3E8"/>
                      </a:solidFill>
                      <a:prstDash val="solid"/>
                      <a:round/>
                      <a:headEnd type="none" w="med" len="med"/>
                      <a:tailEnd type="none" w="med" len="med"/>
                    </a:lnT>
                    <a:lnB w="6350" cap="flat" cmpd="sng" algn="ctr">
                      <a:solidFill>
                        <a:srgbClr val="DCE3E8"/>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Local patterns</a:t>
                      </a:r>
                      <a:endParaRPr lang="en-US" sz="1200" dirty="0">
                        <a:latin typeface="Calibri" charset="0"/>
                        <a:ea typeface="Calibri" charset="0"/>
                        <a:cs typeface="Calibri" charset="0"/>
                      </a:endParaRPr>
                    </a:p>
                  </a:txBody>
                  <a:tcPr marL="54864" marR="54864" marT="54864" marB="54864" anchor="ctr">
                    <a:lnL w="6350" cap="flat" cmpd="sng" algn="ctr">
                      <a:solidFill>
                        <a:srgbClr val="DCE3E8"/>
                      </a:solidFill>
                      <a:prstDash val="solid"/>
                      <a:round/>
                      <a:headEnd type="none" w="med" len="med"/>
                      <a:tailEnd type="none" w="med" len="med"/>
                    </a:lnL>
                    <a:lnR w="6350" cap="flat" cmpd="sng" algn="ctr">
                      <a:solidFill>
                        <a:srgbClr val="DCE3E8"/>
                      </a:solidFill>
                      <a:prstDash val="solid"/>
                      <a:round/>
                      <a:headEnd type="none" w="med" len="med"/>
                      <a:tailEnd type="none" w="med" len="med"/>
                    </a:lnR>
                    <a:lnT w="6350" cap="flat" cmpd="sng" algn="ctr">
                      <a:solidFill>
                        <a:srgbClr val="DCE3E8"/>
                      </a:solidFill>
                      <a:prstDash val="solid"/>
                      <a:round/>
                      <a:headEnd type="none" w="med" len="med"/>
                      <a:tailEnd type="none" w="med" len="med"/>
                    </a:lnT>
                    <a:lnB w="6350" cap="flat" cmpd="sng" algn="ctr">
                      <a:solidFill>
                        <a:srgbClr val="DCE3E8"/>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Kernel size limits range</a:t>
                      </a:r>
                      <a:endParaRPr lang="en-US" sz="1200" dirty="0">
                        <a:latin typeface="Calibri" charset="0"/>
                        <a:ea typeface="Calibri" charset="0"/>
                        <a:cs typeface="Calibri" charset="0"/>
                      </a:endParaRPr>
                    </a:p>
                  </a:txBody>
                  <a:tcPr marL="54864" marR="54864" marT="54864" marB="54864" anchor="ctr">
                    <a:lnL w="6350" cap="flat" cmpd="sng" algn="ctr">
                      <a:solidFill>
                        <a:srgbClr val="DCE3E8"/>
                      </a:solidFill>
                      <a:prstDash val="solid"/>
                      <a:round/>
                      <a:headEnd type="none" w="med" len="med"/>
                      <a:tailEnd type="none" w="med" len="med"/>
                    </a:lnL>
                    <a:lnR w="6350" cap="flat" cmpd="sng" algn="ctr">
                      <a:solidFill>
                        <a:srgbClr val="DCE3E8"/>
                      </a:solidFill>
                      <a:prstDash val="solid"/>
                      <a:round/>
                      <a:headEnd type="none" w="med" len="med"/>
                      <a:tailEnd type="none" w="med" len="med"/>
                    </a:lnR>
                    <a:lnT w="6350" cap="flat" cmpd="sng" algn="ctr">
                      <a:solidFill>
                        <a:srgbClr val="DCE3E8"/>
                      </a:solidFill>
                      <a:prstDash val="solid"/>
                      <a:round/>
                      <a:headEnd type="none" w="med" len="med"/>
                      <a:tailEnd type="none" w="med" len="med"/>
                    </a:lnT>
                    <a:lnB w="6350" cap="flat" cmpd="sng" algn="ctr">
                      <a:solidFill>
                        <a:srgbClr val="DCE3E8"/>
                      </a:solidFill>
                      <a:prstDash val="solid"/>
                      <a:round/>
                      <a:headEnd type="none" w="med" len="med"/>
                      <a:tailEnd type="none" w="med" len="med"/>
                    </a:lnB>
                  </a:tcPr>
                </a:tc>
              </a:tr>
              <a:tr h="365760">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GNN</a:t>
                      </a:r>
                      <a:endParaRPr lang="en-US" sz="1200" dirty="0">
                        <a:latin typeface="Calibri" charset="0"/>
                        <a:ea typeface="Calibri" charset="0"/>
                        <a:cs typeface="Calibri" charset="0"/>
                      </a:endParaRPr>
                    </a:p>
                  </a:txBody>
                  <a:tcPr marL="54864" marR="54864" marT="54864" marB="54864" anchor="ctr">
                    <a:lnL w="6350" cap="flat" cmpd="sng" algn="ctr">
                      <a:solidFill>
                        <a:srgbClr val="DCE3E8"/>
                      </a:solidFill>
                      <a:prstDash val="solid"/>
                      <a:round/>
                      <a:headEnd type="none" w="med" len="med"/>
                      <a:tailEnd type="none" w="med" len="med"/>
                    </a:lnL>
                    <a:lnR w="6350" cap="flat" cmpd="sng" algn="ctr">
                      <a:solidFill>
                        <a:srgbClr val="DCE3E8"/>
                      </a:solidFill>
                      <a:prstDash val="solid"/>
                      <a:round/>
                      <a:headEnd type="none" w="med" len="med"/>
                      <a:tailEnd type="none" w="med" len="med"/>
                    </a:lnR>
                    <a:lnT w="6350" cap="flat" cmpd="sng" algn="ctr">
                      <a:solidFill>
                        <a:srgbClr val="DCE3E8"/>
                      </a:solidFill>
                      <a:prstDash val="solid"/>
                      <a:round/>
                      <a:headEnd type="none" w="med" len="med"/>
                      <a:tailEnd type="none" w="med" len="med"/>
                    </a:lnT>
                    <a:lnB w="6350" cap="flat" cmpd="sng" algn="ctr">
                      <a:solidFill>
                        <a:srgbClr val="DCE3E8"/>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GRIN, SPIN</a:t>
                      </a:r>
                      <a:endParaRPr lang="en-US" sz="1200" dirty="0">
                        <a:latin typeface="Calibri" charset="0"/>
                        <a:ea typeface="Calibri" charset="0"/>
                        <a:cs typeface="Calibri" charset="0"/>
                      </a:endParaRPr>
                    </a:p>
                  </a:txBody>
                  <a:tcPr marL="54864" marR="54864" marT="54864" marB="54864" anchor="ctr">
                    <a:lnL w="6350" cap="flat" cmpd="sng" algn="ctr">
                      <a:solidFill>
                        <a:srgbClr val="DCE3E8"/>
                      </a:solidFill>
                      <a:prstDash val="solid"/>
                      <a:round/>
                      <a:headEnd type="none" w="med" len="med"/>
                      <a:tailEnd type="none" w="med" len="med"/>
                    </a:lnL>
                    <a:lnR w="6350" cap="flat" cmpd="sng" algn="ctr">
                      <a:solidFill>
                        <a:srgbClr val="DCE3E8"/>
                      </a:solidFill>
                      <a:prstDash val="solid"/>
                      <a:round/>
                      <a:headEnd type="none" w="med" len="med"/>
                      <a:tailEnd type="none" w="med" len="med"/>
                    </a:lnR>
                    <a:lnT w="6350" cap="flat" cmpd="sng" algn="ctr">
                      <a:solidFill>
                        <a:srgbClr val="DCE3E8"/>
                      </a:solidFill>
                      <a:prstDash val="solid"/>
                      <a:round/>
                      <a:headEnd type="none" w="med" len="med"/>
                      <a:tailEnd type="none" w="med" len="med"/>
                    </a:lnT>
                    <a:lnB w="6350" cap="flat" cmpd="sng" algn="ctr">
                      <a:solidFill>
                        <a:srgbClr val="DCE3E8"/>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Links between sensors</a:t>
                      </a:r>
                      <a:endParaRPr lang="en-US" sz="1200" dirty="0">
                        <a:latin typeface="Calibri" charset="0"/>
                        <a:ea typeface="Calibri" charset="0"/>
                        <a:cs typeface="Calibri" charset="0"/>
                      </a:endParaRPr>
                    </a:p>
                  </a:txBody>
                  <a:tcPr marL="54864" marR="54864" marT="54864" marB="54864" anchor="ctr">
                    <a:lnL w="6350" cap="flat" cmpd="sng" algn="ctr">
                      <a:solidFill>
                        <a:srgbClr val="DCE3E8"/>
                      </a:solidFill>
                      <a:prstDash val="solid"/>
                      <a:round/>
                      <a:headEnd type="none" w="med" len="med"/>
                      <a:tailEnd type="none" w="med" len="med"/>
                    </a:lnL>
                    <a:lnR w="6350" cap="flat" cmpd="sng" algn="ctr">
                      <a:solidFill>
                        <a:srgbClr val="DCE3E8"/>
                      </a:solidFill>
                      <a:prstDash val="solid"/>
                      <a:round/>
                      <a:headEnd type="none" w="med" len="med"/>
                      <a:tailEnd type="none" w="med" len="med"/>
                    </a:lnR>
                    <a:lnT w="6350" cap="flat" cmpd="sng" algn="ctr">
                      <a:solidFill>
                        <a:srgbClr val="DCE3E8"/>
                      </a:solidFill>
                      <a:prstDash val="solid"/>
                      <a:round/>
                      <a:headEnd type="none" w="med" len="med"/>
                      <a:tailEnd type="none" w="med" len="med"/>
                    </a:lnT>
                    <a:lnB w="6350" cap="flat" cmpd="sng" algn="ctr">
                      <a:solidFill>
                        <a:srgbClr val="DCE3E8"/>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Costly on large graphs</a:t>
                      </a:r>
                      <a:endParaRPr lang="en-US" sz="1200" dirty="0">
                        <a:latin typeface="Calibri" charset="0"/>
                        <a:ea typeface="Calibri" charset="0"/>
                        <a:cs typeface="Calibri" charset="0"/>
                      </a:endParaRPr>
                    </a:p>
                  </a:txBody>
                  <a:tcPr marL="54864" marR="54864" marT="54864" marB="54864" anchor="ctr">
                    <a:lnL w="6350" cap="flat" cmpd="sng" algn="ctr">
                      <a:solidFill>
                        <a:srgbClr val="DCE3E8"/>
                      </a:solidFill>
                      <a:prstDash val="solid"/>
                      <a:round/>
                      <a:headEnd type="none" w="med" len="med"/>
                      <a:tailEnd type="none" w="med" len="med"/>
                    </a:lnL>
                    <a:lnR w="6350" cap="flat" cmpd="sng" algn="ctr">
                      <a:solidFill>
                        <a:srgbClr val="DCE3E8"/>
                      </a:solidFill>
                      <a:prstDash val="solid"/>
                      <a:round/>
                      <a:headEnd type="none" w="med" len="med"/>
                      <a:tailEnd type="none" w="med" len="med"/>
                    </a:lnR>
                    <a:lnT w="6350" cap="flat" cmpd="sng" algn="ctr">
                      <a:solidFill>
                        <a:srgbClr val="DCE3E8"/>
                      </a:solidFill>
                      <a:prstDash val="solid"/>
                      <a:round/>
                      <a:headEnd type="none" w="med" len="med"/>
                      <a:tailEnd type="none" w="med" len="med"/>
                    </a:lnT>
                    <a:lnB w="6350" cap="flat" cmpd="sng" algn="ctr">
                      <a:solidFill>
                        <a:srgbClr val="DCE3E8"/>
                      </a:solidFill>
                      <a:prstDash val="solid"/>
                      <a:round/>
                      <a:headEnd type="none" w="med" len="med"/>
                      <a:tailEnd type="none" w="med" len="med"/>
                    </a:lnB>
                  </a:tcPr>
                </a:tc>
              </a:tr>
              <a:tr h="365760">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Attention</a:t>
                      </a:r>
                      <a:endParaRPr lang="en-US" sz="1200" dirty="0">
                        <a:latin typeface="Calibri" charset="0"/>
                        <a:ea typeface="Calibri" charset="0"/>
                        <a:cs typeface="Calibri" charset="0"/>
                      </a:endParaRPr>
                    </a:p>
                  </a:txBody>
                  <a:tcPr marL="54864" marR="54864" marT="54864" marB="54864" anchor="ctr">
                    <a:lnL w="6350" cap="flat" cmpd="sng" algn="ctr">
                      <a:solidFill>
                        <a:srgbClr val="DCE3E8"/>
                      </a:solidFill>
                      <a:prstDash val="solid"/>
                      <a:round/>
                      <a:headEnd type="none" w="med" len="med"/>
                      <a:tailEnd type="none" w="med" len="med"/>
                    </a:lnL>
                    <a:lnR w="6350" cap="flat" cmpd="sng" algn="ctr">
                      <a:solidFill>
                        <a:srgbClr val="DCE3E8"/>
                      </a:solidFill>
                      <a:prstDash val="solid"/>
                      <a:round/>
                      <a:headEnd type="none" w="med" len="med"/>
                      <a:tailEnd type="none" w="med" len="med"/>
                    </a:lnR>
                    <a:lnT w="6350" cap="flat" cmpd="sng" algn="ctr">
                      <a:solidFill>
                        <a:srgbClr val="DCE3E8"/>
                      </a:solidFill>
                      <a:prstDash val="solid"/>
                      <a:round/>
                      <a:headEnd type="none" w="med" len="med"/>
                      <a:tailEnd type="none" w="med" len="med"/>
                    </a:lnT>
                    <a:lnB w="6350" cap="flat" cmpd="sng" algn="ctr">
                      <a:solidFill>
                        <a:srgbClr val="DCE3E8"/>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SAITS, ImputeFormer</a:t>
                      </a:r>
                      <a:endParaRPr lang="en-US" sz="1200" dirty="0">
                        <a:latin typeface="Calibri" charset="0"/>
                        <a:ea typeface="Calibri" charset="0"/>
                        <a:cs typeface="Calibri" charset="0"/>
                      </a:endParaRPr>
                    </a:p>
                  </a:txBody>
                  <a:tcPr marL="54864" marR="54864" marT="54864" marB="54864" anchor="ctr">
                    <a:lnL w="6350" cap="flat" cmpd="sng" algn="ctr">
                      <a:solidFill>
                        <a:srgbClr val="DCE3E8"/>
                      </a:solidFill>
                      <a:prstDash val="solid"/>
                      <a:round/>
                      <a:headEnd type="none" w="med" len="med"/>
                      <a:tailEnd type="none" w="med" len="med"/>
                    </a:lnL>
                    <a:lnR w="6350" cap="flat" cmpd="sng" algn="ctr">
                      <a:solidFill>
                        <a:srgbClr val="DCE3E8"/>
                      </a:solidFill>
                      <a:prstDash val="solid"/>
                      <a:round/>
                      <a:headEnd type="none" w="med" len="med"/>
                      <a:tailEnd type="none" w="med" len="med"/>
                    </a:lnR>
                    <a:lnT w="6350" cap="flat" cmpd="sng" algn="ctr">
                      <a:solidFill>
                        <a:srgbClr val="DCE3E8"/>
                      </a:solidFill>
                      <a:prstDash val="solid"/>
                      <a:round/>
                      <a:headEnd type="none" w="med" len="med"/>
                      <a:tailEnd type="none" w="med" len="med"/>
                    </a:lnT>
                    <a:lnB w="6350" cap="flat" cmpd="sng" algn="ctr">
                      <a:solidFill>
                        <a:srgbClr val="DCE3E8"/>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Long-range, parallel; usually best</a:t>
                      </a:r>
                      <a:endParaRPr lang="en-US" sz="1200" dirty="0">
                        <a:latin typeface="Calibri" charset="0"/>
                        <a:ea typeface="Calibri" charset="0"/>
                        <a:cs typeface="Calibri" charset="0"/>
                      </a:endParaRPr>
                    </a:p>
                  </a:txBody>
                  <a:tcPr marL="54864" marR="54864" marT="54864" marB="54864" anchor="ctr">
                    <a:lnL w="6350" cap="flat" cmpd="sng" algn="ctr">
                      <a:solidFill>
                        <a:srgbClr val="DCE3E8"/>
                      </a:solidFill>
                      <a:prstDash val="solid"/>
                      <a:round/>
                      <a:headEnd type="none" w="med" len="med"/>
                      <a:tailEnd type="none" w="med" len="med"/>
                    </a:lnL>
                    <a:lnR w="6350" cap="flat" cmpd="sng" algn="ctr">
                      <a:solidFill>
                        <a:srgbClr val="DCE3E8"/>
                      </a:solidFill>
                      <a:prstDash val="solid"/>
                      <a:round/>
                      <a:headEnd type="none" w="med" len="med"/>
                      <a:tailEnd type="none" w="med" len="med"/>
                    </a:lnR>
                    <a:lnT w="6350" cap="flat" cmpd="sng" algn="ctr">
                      <a:solidFill>
                        <a:srgbClr val="DCE3E8"/>
                      </a:solidFill>
                      <a:prstDash val="solid"/>
                      <a:round/>
                      <a:headEnd type="none" w="med" len="med"/>
                      <a:tailEnd type="none" w="med" len="med"/>
                    </a:lnT>
                    <a:lnB w="6350" cap="flat" cmpd="sng" algn="ctr">
                      <a:solidFill>
                        <a:srgbClr val="DCE3E8"/>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Data hungry</a:t>
                      </a:r>
                      <a:endParaRPr lang="en-US" sz="1200" dirty="0">
                        <a:latin typeface="Calibri" charset="0"/>
                        <a:ea typeface="Calibri" charset="0"/>
                        <a:cs typeface="Calibri" charset="0"/>
                      </a:endParaRPr>
                    </a:p>
                  </a:txBody>
                  <a:tcPr marL="54864" marR="54864" marT="54864" marB="54864" anchor="ctr">
                    <a:lnL w="6350" cap="flat" cmpd="sng" algn="ctr">
                      <a:solidFill>
                        <a:srgbClr val="DCE3E8"/>
                      </a:solidFill>
                      <a:prstDash val="solid"/>
                      <a:round/>
                      <a:headEnd type="none" w="med" len="med"/>
                      <a:tailEnd type="none" w="med" len="med"/>
                    </a:lnL>
                    <a:lnR w="6350" cap="flat" cmpd="sng" algn="ctr">
                      <a:solidFill>
                        <a:srgbClr val="DCE3E8"/>
                      </a:solidFill>
                      <a:prstDash val="solid"/>
                      <a:round/>
                      <a:headEnd type="none" w="med" len="med"/>
                      <a:tailEnd type="none" w="med" len="med"/>
                    </a:lnR>
                    <a:lnT w="6350" cap="flat" cmpd="sng" algn="ctr">
                      <a:solidFill>
                        <a:srgbClr val="DCE3E8"/>
                      </a:solidFill>
                      <a:prstDash val="solid"/>
                      <a:round/>
                      <a:headEnd type="none" w="med" len="med"/>
                      <a:tailEnd type="none" w="med" len="med"/>
                    </a:lnT>
                    <a:lnB w="6350" cap="flat" cmpd="sng" algn="ctr">
                      <a:solidFill>
                        <a:srgbClr val="DCE3E8"/>
                      </a:solidFill>
                      <a:prstDash val="solid"/>
                      <a:round/>
                      <a:headEnd type="none" w="med" len="med"/>
                      <a:tailEnd type="none" w="med" len="med"/>
                    </a:lnB>
                  </a:tcPr>
                </a:tc>
              </a:tr>
              <a:tr h="365760">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VAE</a:t>
                      </a:r>
                      <a:endParaRPr lang="en-US" sz="1200" dirty="0">
                        <a:latin typeface="Calibri" charset="0"/>
                        <a:ea typeface="Calibri" charset="0"/>
                        <a:cs typeface="Calibri" charset="0"/>
                      </a:endParaRPr>
                    </a:p>
                  </a:txBody>
                  <a:tcPr marL="54864" marR="54864" marT="54864" marB="54864" anchor="ctr">
                    <a:lnL w="6350" cap="flat" cmpd="sng" algn="ctr">
                      <a:solidFill>
                        <a:srgbClr val="DCE3E8"/>
                      </a:solidFill>
                      <a:prstDash val="solid"/>
                      <a:round/>
                      <a:headEnd type="none" w="med" len="med"/>
                      <a:tailEnd type="none" w="med" len="med"/>
                    </a:lnL>
                    <a:lnR w="6350" cap="flat" cmpd="sng" algn="ctr">
                      <a:solidFill>
                        <a:srgbClr val="DCE3E8"/>
                      </a:solidFill>
                      <a:prstDash val="solid"/>
                      <a:round/>
                      <a:headEnd type="none" w="med" len="med"/>
                      <a:tailEnd type="none" w="med" len="med"/>
                    </a:lnR>
                    <a:lnT w="6350" cap="flat" cmpd="sng" algn="ctr">
                      <a:solidFill>
                        <a:srgbClr val="DCE3E8"/>
                      </a:solidFill>
                      <a:prstDash val="solid"/>
                      <a:round/>
                      <a:headEnd type="none" w="med" len="med"/>
                      <a:tailEnd type="none" w="med" len="med"/>
                    </a:lnT>
                    <a:lnB w="6350" cap="flat" cmpd="sng" algn="ctr">
                      <a:solidFill>
                        <a:srgbClr val="DCE3E8"/>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GP-VAE, V-RIN</a:t>
                      </a:r>
                      <a:endParaRPr lang="en-US" sz="1200" dirty="0">
                        <a:latin typeface="Calibri" charset="0"/>
                        <a:ea typeface="Calibri" charset="0"/>
                        <a:cs typeface="Calibri" charset="0"/>
                      </a:endParaRPr>
                    </a:p>
                  </a:txBody>
                  <a:tcPr marL="54864" marR="54864" marT="54864" marB="54864" anchor="ctr">
                    <a:lnL w="6350" cap="flat" cmpd="sng" algn="ctr">
                      <a:solidFill>
                        <a:srgbClr val="DCE3E8"/>
                      </a:solidFill>
                      <a:prstDash val="solid"/>
                      <a:round/>
                      <a:headEnd type="none" w="med" len="med"/>
                      <a:tailEnd type="none" w="med" len="med"/>
                    </a:lnL>
                    <a:lnR w="6350" cap="flat" cmpd="sng" algn="ctr">
                      <a:solidFill>
                        <a:srgbClr val="DCE3E8"/>
                      </a:solidFill>
                      <a:prstDash val="solid"/>
                      <a:round/>
                      <a:headEnd type="none" w="med" len="med"/>
                      <a:tailEnd type="none" w="med" len="med"/>
                    </a:lnR>
                    <a:lnT w="6350" cap="flat" cmpd="sng" algn="ctr">
                      <a:solidFill>
                        <a:srgbClr val="DCE3E8"/>
                      </a:solidFill>
                      <a:prstDash val="solid"/>
                      <a:round/>
                      <a:headEnd type="none" w="med" len="med"/>
                      <a:tailEnd type="none" w="med" len="med"/>
                    </a:lnT>
                    <a:lnB w="6350" cap="flat" cmpd="sng" algn="ctr">
                      <a:solidFill>
                        <a:srgbClr val="DCE3E8"/>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Explicit probabilities</a:t>
                      </a:r>
                      <a:endParaRPr lang="en-US" sz="1200" dirty="0">
                        <a:latin typeface="Calibri" charset="0"/>
                        <a:ea typeface="Calibri" charset="0"/>
                        <a:cs typeface="Calibri" charset="0"/>
                      </a:endParaRPr>
                    </a:p>
                  </a:txBody>
                  <a:tcPr marL="54864" marR="54864" marT="54864" marB="54864" anchor="ctr">
                    <a:lnL w="6350" cap="flat" cmpd="sng" algn="ctr">
                      <a:solidFill>
                        <a:srgbClr val="DCE3E8"/>
                      </a:solidFill>
                      <a:prstDash val="solid"/>
                      <a:round/>
                      <a:headEnd type="none" w="med" len="med"/>
                      <a:tailEnd type="none" w="med" len="med"/>
                    </a:lnL>
                    <a:lnR w="6350" cap="flat" cmpd="sng" algn="ctr">
                      <a:solidFill>
                        <a:srgbClr val="DCE3E8"/>
                      </a:solidFill>
                      <a:prstDash val="solid"/>
                      <a:round/>
                      <a:headEnd type="none" w="med" len="med"/>
                      <a:tailEnd type="none" w="med" len="med"/>
                    </a:lnR>
                    <a:lnT w="6350" cap="flat" cmpd="sng" algn="ctr">
                      <a:solidFill>
                        <a:srgbClr val="DCE3E8"/>
                      </a:solidFill>
                      <a:prstDash val="solid"/>
                      <a:round/>
                      <a:headEnd type="none" w="med" len="med"/>
                      <a:tailEnd type="none" w="med" len="med"/>
                    </a:lnT>
                    <a:lnB w="6350" cap="flat" cmpd="sng" algn="ctr">
                      <a:solidFill>
                        <a:srgbClr val="DCE3E8"/>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Limited generative power</a:t>
                      </a:r>
                      <a:endParaRPr lang="en-US" sz="1200" dirty="0">
                        <a:latin typeface="Calibri" charset="0"/>
                        <a:ea typeface="Calibri" charset="0"/>
                        <a:cs typeface="Calibri" charset="0"/>
                      </a:endParaRPr>
                    </a:p>
                  </a:txBody>
                  <a:tcPr marL="54864" marR="54864" marT="54864" marB="54864" anchor="ctr">
                    <a:lnL w="6350" cap="flat" cmpd="sng" algn="ctr">
                      <a:solidFill>
                        <a:srgbClr val="DCE3E8"/>
                      </a:solidFill>
                      <a:prstDash val="solid"/>
                      <a:round/>
                      <a:headEnd type="none" w="med" len="med"/>
                      <a:tailEnd type="none" w="med" len="med"/>
                    </a:lnL>
                    <a:lnR w="6350" cap="flat" cmpd="sng" algn="ctr">
                      <a:solidFill>
                        <a:srgbClr val="DCE3E8"/>
                      </a:solidFill>
                      <a:prstDash val="solid"/>
                      <a:round/>
                      <a:headEnd type="none" w="med" len="med"/>
                      <a:tailEnd type="none" w="med" len="med"/>
                    </a:lnR>
                    <a:lnT w="6350" cap="flat" cmpd="sng" algn="ctr">
                      <a:solidFill>
                        <a:srgbClr val="DCE3E8"/>
                      </a:solidFill>
                      <a:prstDash val="solid"/>
                      <a:round/>
                      <a:headEnd type="none" w="med" len="med"/>
                      <a:tailEnd type="none" w="med" len="med"/>
                    </a:lnT>
                    <a:lnB w="6350" cap="flat" cmpd="sng" algn="ctr">
                      <a:solidFill>
                        <a:srgbClr val="DCE3E8"/>
                      </a:solidFill>
                      <a:prstDash val="solid"/>
                      <a:round/>
                      <a:headEnd type="none" w="med" len="med"/>
                      <a:tailEnd type="none" w="med" len="med"/>
                    </a:lnB>
                  </a:tcPr>
                </a:tc>
              </a:tr>
              <a:tr h="365760">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GAN</a:t>
                      </a:r>
                      <a:endParaRPr lang="en-US" sz="1200" dirty="0">
                        <a:latin typeface="Calibri" charset="0"/>
                        <a:ea typeface="Calibri" charset="0"/>
                        <a:cs typeface="Calibri" charset="0"/>
                      </a:endParaRPr>
                    </a:p>
                  </a:txBody>
                  <a:tcPr marL="54864" marR="54864" marT="54864" marB="54864" anchor="ctr">
                    <a:lnL w="6350" cap="flat" cmpd="sng" algn="ctr">
                      <a:solidFill>
                        <a:srgbClr val="DCE3E8"/>
                      </a:solidFill>
                      <a:prstDash val="solid"/>
                      <a:round/>
                      <a:headEnd type="none" w="med" len="med"/>
                      <a:tailEnd type="none" w="med" len="med"/>
                    </a:lnL>
                    <a:lnR w="6350" cap="flat" cmpd="sng" algn="ctr">
                      <a:solidFill>
                        <a:srgbClr val="DCE3E8"/>
                      </a:solidFill>
                      <a:prstDash val="solid"/>
                      <a:round/>
                      <a:headEnd type="none" w="med" len="med"/>
                      <a:tailEnd type="none" w="med" len="med"/>
                    </a:lnR>
                    <a:lnT w="6350" cap="flat" cmpd="sng" algn="ctr">
                      <a:solidFill>
                        <a:srgbClr val="DCE3E8"/>
                      </a:solidFill>
                      <a:prstDash val="solid"/>
                      <a:round/>
                      <a:headEnd type="none" w="med" len="med"/>
                      <a:tailEnd type="none" w="med" len="med"/>
                    </a:lnT>
                    <a:lnB w="6350" cap="flat" cmpd="sng" algn="ctr">
                      <a:solidFill>
                        <a:srgbClr val="DCE3E8"/>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E2GAN, NAOMI</a:t>
                      </a:r>
                      <a:endParaRPr lang="en-US" sz="1200" dirty="0">
                        <a:latin typeface="Calibri" charset="0"/>
                        <a:ea typeface="Calibri" charset="0"/>
                        <a:cs typeface="Calibri" charset="0"/>
                      </a:endParaRPr>
                    </a:p>
                  </a:txBody>
                  <a:tcPr marL="54864" marR="54864" marT="54864" marB="54864" anchor="ctr">
                    <a:lnL w="6350" cap="flat" cmpd="sng" algn="ctr">
                      <a:solidFill>
                        <a:srgbClr val="DCE3E8"/>
                      </a:solidFill>
                      <a:prstDash val="solid"/>
                      <a:round/>
                      <a:headEnd type="none" w="med" len="med"/>
                      <a:tailEnd type="none" w="med" len="med"/>
                    </a:lnL>
                    <a:lnR w="6350" cap="flat" cmpd="sng" algn="ctr">
                      <a:solidFill>
                        <a:srgbClr val="DCE3E8"/>
                      </a:solidFill>
                      <a:prstDash val="solid"/>
                      <a:round/>
                      <a:headEnd type="none" w="med" len="med"/>
                      <a:tailEnd type="none" w="med" len="med"/>
                    </a:lnR>
                    <a:lnT w="6350" cap="flat" cmpd="sng" algn="ctr">
                      <a:solidFill>
                        <a:srgbClr val="DCE3E8"/>
                      </a:solidFill>
                      <a:prstDash val="solid"/>
                      <a:round/>
                      <a:headEnd type="none" w="med" len="med"/>
                      <a:tailEnd type="none" w="med" len="med"/>
                    </a:lnT>
                    <a:lnB w="6350" cap="flat" cmpd="sng" algn="ctr">
                      <a:solidFill>
                        <a:srgbClr val="DCE3E8"/>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Realistic outputs</a:t>
                      </a:r>
                      <a:endParaRPr lang="en-US" sz="1200" dirty="0">
                        <a:latin typeface="Calibri" charset="0"/>
                        <a:ea typeface="Calibri" charset="0"/>
                        <a:cs typeface="Calibri" charset="0"/>
                      </a:endParaRPr>
                    </a:p>
                  </a:txBody>
                  <a:tcPr marL="54864" marR="54864" marT="54864" marB="54864" anchor="ctr">
                    <a:lnL w="6350" cap="flat" cmpd="sng" algn="ctr">
                      <a:solidFill>
                        <a:srgbClr val="DCE3E8"/>
                      </a:solidFill>
                      <a:prstDash val="solid"/>
                      <a:round/>
                      <a:headEnd type="none" w="med" len="med"/>
                      <a:tailEnd type="none" w="med" len="med"/>
                    </a:lnL>
                    <a:lnR w="6350" cap="flat" cmpd="sng" algn="ctr">
                      <a:solidFill>
                        <a:srgbClr val="DCE3E8"/>
                      </a:solidFill>
                      <a:prstDash val="solid"/>
                      <a:round/>
                      <a:headEnd type="none" w="med" len="med"/>
                      <a:tailEnd type="none" w="med" len="med"/>
                    </a:lnR>
                    <a:lnT w="6350" cap="flat" cmpd="sng" algn="ctr">
                      <a:solidFill>
                        <a:srgbClr val="DCE3E8"/>
                      </a:solidFill>
                      <a:prstDash val="solid"/>
                      <a:round/>
                      <a:headEnd type="none" w="med" len="med"/>
                      <a:tailEnd type="none" w="med" len="med"/>
                    </a:lnT>
                    <a:lnB w="6350" cap="flat" cmpd="sng" algn="ctr">
                      <a:solidFill>
                        <a:srgbClr val="DCE3E8"/>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Unstable training</a:t>
                      </a:r>
                      <a:endParaRPr lang="en-US" sz="1200" dirty="0">
                        <a:latin typeface="Calibri" charset="0"/>
                        <a:ea typeface="Calibri" charset="0"/>
                        <a:cs typeface="Calibri" charset="0"/>
                      </a:endParaRPr>
                    </a:p>
                  </a:txBody>
                  <a:tcPr marL="54864" marR="54864" marT="54864" marB="54864" anchor="ctr">
                    <a:lnL w="6350" cap="flat" cmpd="sng" algn="ctr">
                      <a:solidFill>
                        <a:srgbClr val="DCE3E8"/>
                      </a:solidFill>
                      <a:prstDash val="solid"/>
                      <a:round/>
                      <a:headEnd type="none" w="med" len="med"/>
                      <a:tailEnd type="none" w="med" len="med"/>
                    </a:lnL>
                    <a:lnR w="6350" cap="flat" cmpd="sng" algn="ctr">
                      <a:solidFill>
                        <a:srgbClr val="DCE3E8"/>
                      </a:solidFill>
                      <a:prstDash val="solid"/>
                      <a:round/>
                      <a:headEnd type="none" w="med" len="med"/>
                      <a:tailEnd type="none" w="med" len="med"/>
                    </a:lnR>
                    <a:lnT w="6350" cap="flat" cmpd="sng" algn="ctr">
                      <a:solidFill>
                        <a:srgbClr val="DCE3E8"/>
                      </a:solidFill>
                      <a:prstDash val="solid"/>
                      <a:round/>
                      <a:headEnd type="none" w="med" len="med"/>
                      <a:tailEnd type="none" w="med" len="med"/>
                    </a:lnT>
                    <a:lnB w="6350" cap="flat" cmpd="sng" algn="ctr">
                      <a:solidFill>
                        <a:srgbClr val="DCE3E8"/>
                      </a:solidFill>
                      <a:prstDash val="solid"/>
                      <a:round/>
                      <a:headEnd type="none" w="med" len="med"/>
                      <a:tailEnd type="none" w="med" len="med"/>
                    </a:lnB>
                  </a:tcPr>
                </a:tc>
              </a:tr>
              <a:tr h="365760">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Diffusion</a:t>
                      </a:r>
                      <a:endParaRPr lang="en-US" sz="1200" dirty="0">
                        <a:latin typeface="Calibri" charset="0"/>
                        <a:ea typeface="Calibri" charset="0"/>
                        <a:cs typeface="Calibri" charset="0"/>
                      </a:endParaRPr>
                    </a:p>
                  </a:txBody>
                  <a:tcPr marL="54864" marR="54864" marT="54864" marB="54864" anchor="ctr">
                    <a:lnL w="6350" cap="flat" cmpd="sng" algn="ctr">
                      <a:solidFill>
                        <a:srgbClr val="DCE3E8"/>
                      </a:solidFill>
                      <a:prstDash val="solid"/>
                      <a:round/>
                      <a:headEnd type="none" w="med" len="med"/>
                      <a:tailEnd type="none" w="med" len="med"/>
                    </a:lnL>
                    <a:lnR w="6350" cap="flat" cmpd="sng" algn="ctr">
                      <a:solidFill>
                        <a:srgbClr val="DCE3E8"/>
                      </a:solidFill>
                      <a:prstDash val="solid"/>
                      <a:round/>
                      <a:headEnd type="none" w="med" len="med"/>
                      <a:tailEnd type="none" w="med" len="med"/>
                    </a:lnR>
                    <a:lnT w="6350" cap="flat" cmpd="sng" algn="ctr">
                      <a:solidFill>
                        <a:srgbClr val="DCE3E8"/>
                      </a:solidFill>
                      <a:prstDash val="solid"/>
                      <a:round/>
                      <a:headEnd type="none" w="med" len="med"/>
                      <a:tailEnd type="none" w="med" len="med"/>
                    </a:lnT>
                    <a:lnB w="6350" cap="flat" cmpd="sng" algn="ctr">
                      <a:solidFill>
                        <a:srgbClr val="DCE3E8"/>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CSDI, SSSD, PriSTI</a:t>
                      </a:r>
                      <a:endParaRPr lang="en-US" sz="1200" dirty="0">
                        <a:latin typeface="Calibri" charset="0"/>
                        <a:ea typeface="Calibri" charset="0"/>
                        <a:cs typeface="Calibri" charset="0"/>
                      </a:endParaRPr>
                    </a:p>
                  </a:txBody>
                  <a:tcPr marL="54864" marR="54864" marT="54864" marB="54864" anchor="ctr">
                    <a:lnL w="6350" cap="flat" cmpd="sng" algn="ctr">
                      <a:solidFill>
                        <a:srgbClr val="DCE3E8"/>
                      </a:solidFill>
                      <a:prstDash val="solid"/>
                      <a:round/>
                      <a:headEnd type="none" w="med" len="med"/>
                      <a:tailEnd type="none" w="med" len="med"/>
                    </a:lnL>
                    <a:lnR w="6350" cap="flat" cmpd="sng" algn="ctr">
                      <a:solidFill>
                        <a:srgbClr val="DCE3E8"/>
                      </a:solidFill>
                      <a:prstDash val="solid"/>
                      <a:round/>
                      <a:headEnd type="none" w="med" len="med"/>
                      <a:tailEnd type="none" w="med" len="med"/>
                    </a:lnR>
                    <a:lnT w="6350" cap="flat" cmpd="sng" algn="ctr">
                      <a:solidFill>
                        <a:srgbClr val="DCE3E8"/>
                      </a:solidFill>
                      <a:prstDash val="solid"/>
                      <a:round/>
                      <a:headEnd type="none" w="med" len="med"/>
                      <a:tailEnd type="none" w="med" len="med"/>
                    </a:lnT>
                    <a:lnB w="6350" cap="flat" cmpd="sng" algn="ctr">
                      <a:solidFill>
                        <a:srgbClr val="DCE3E8"/>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Richest patterns + uncertainty</a:t>
                      </a:r>
                      <a:endParaRPr lang="en-US" sz="1200" dirty="0">
                        <a:latin typeface="Calibri" charset="0"/>
                        <a:ea typeface="Calibri" charset="0"/>
                        <a:cs typeface="Calibri" charset="0"/>
                      </a:endParaRPr>
                    </a:p>
                  </a:txBody>
                  <a:tcPr marL="54864" marR="54864" marT="54864" marB="54864" anchor="ctr">
                    <a:lnL w="6350" cap="flat" cmpd="sng" algn="ctr">
                      <a:solidFill>
                        <a:srgbClr val="DCE3E8"/>
                      </a:solidFill>
                      <a:prstDash val="solid"/>
                      <a:round/>
                      <a:headEnd type="none" w="med" len="med"/>
                      <a:tailEnd type="none" w="med" len="med"/>
                    </a:lnL>
                    <a:lnR w="6350" cap="flat" cmpd="sng" algn="ctr">
                      <a:solidFill>
                        <a:srgbClr val="DCE3E8"/>
                      </a:solidFill>
                      <a:prstDash val="solid"/>
                      <a:round/>
                      <a:headEnd type="none" w="med" len="med"/>
                      <a:tailEnd type="none" w="med" len="med"/>
                    </a:lnR>
                    <a:lnT w="6350" cap="flat" cmpd="sng" algn="ctr">
                      <a:solidFill>
                        <a:srgbClr val="DCE3E8"/>
                      </a:solidFill>
                      <a:prstDash val="solid"/>
                      <a:round/>
                      <a:headEnd type="none" w="med" len="med"/>
                      <a:tailEnd type="none" w="med" len="med"/>
                    </a:lnT>
                    <a:lnB w="6350" cap="flat" cmpd="sng" algn="ctr">
                      <a:solidFill>
                        <a:srgbClr val="DCE3E8"/>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Expensive; boundary clashes</a:t>
                      </a:r>
                      <a:endParaRPr lang="en-US" sz="1200" dirty="0">
                        <a:latin typeface="Calibri" charset="0"/>
                        <a:ea typeface="Calibri" charset="0"/>
                        <a:cs typeface="Calibri" charset="0"/>
                      </a:endParaRPr>
                    </a:p>
                  </a:txBody>
                  <a:tcPr marL="54864" marR="54864" marT="54864" marB="54864" anchor="ctr">
                    <a:lnL w="6350" cap="flat" cmpd="sng" algn="ctr">
                      <a:solidFill>
                        <a:srgbClr val="DCE3E8"/>
                      </a:solidFill>
                      <a:prstDash val="solid"/>
                      <a:round/>
                      <a:headEnd type="none" w="med" len="med"/>
                      <a:tailEnd type="none" w="med" len="med"/>
                    </a:lnL>
                    <a:lnR w="6350" cap="flat" cmpd="sng" algn="ctr">
                      <a:solidFill>
                        <a:srgbClr val="DCE3E8"/>
                      </a:solidFill>
                      <a:prstDash val="solid"/>
                      <a:round/>
                      <a:headEnd type="none" w="med" len="med"/>
                      <a:tailEnd type="none" w="med" len="med"/>
                    </a:lnR>
                    <a:lnT w="6350" cap="flat" cmpd="sng" algn="ctr">
                      <a:solidFill>
                        <a:srgbClr val="DCE3E8"/>
                      </a:solidFill>
                      <a:prstDash val="solid"/>
                      <a:round/>
                      <a:headEnd type="none" w="med" len="med"/>
                      <a:tailEnd type="none" w="med" len="med"/>
                    </a:lnT>
                    <a:lnB w="6350" cap="flat" cmpd="sng" algn="ctr">
                      <a:solidFill>
                        <a:srgbClr val="DCE3E8"/>
                      </a:solidFill>
                      <a:prstDash val="solid"/>
                      <a:round/>
                      <a:headEnd type="none" w="med" len="med"/>
                      <a:tailEnd type="none" w="med" len="med"/>
                    </a:lnB>
                  </a:tcPr>
                </a:tc>
              </a:tr>
              <a:tr h="365760">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Large models</a:t>
                      </a:r>
                      <a:endParaRPr lang="en-US" sz="1200" dirty="0">
                        <a:latin typeface="Calibri" charset="0"/>
                        <a:ea typeface="Calibri" charset="0"/>
                        <a:cs typeface="Calibri" charset="0"/>
                      </a:endParaRPr>
                    </a:p>
                  </a:txBody>
                  <a:tcPr marL="54864" marR="54864" marT="54864" marB="54864" anchor="ctr">
                    <a:lnL w="6350" cap="flat" cmpd="sng" algn="ctr">
                      <a:solidFill>
                        <a:srgbClr val="DCE3E8"/>
                      </a:solidFill>
                      <a:prstDash val="solid"/>
                      <a:round/>
                      <a:headEnd type="none" w="med" len="med"/>
                      <a:tailEnd type="none" w="med" len="med"/>
                    </a:lnL>
                    <a:lnR w="6350" cap="flat" cmpd="sng" algn="ctr">
                      <a:solidFill>
                        <a:srgbClr val="DCE3E8"/>
                      </a:solidFill>
                      <a:prstDash val="solid"/>
                      <a:round/>
                      <a:headEnd type="none" w="med" len="med"/>
                      <a:tailEnd type="none" w="med" len="med"/>
                    </a:lnR>
                    <a:lnT w="6350" cap="flat" cmpd="sng" algn="ctr">
                      <a:solidFill>
                        <a:srgbClr val="DCE3E8"/>
                      </a:solidFill>
                      <a:prstDash val="solid"/>
                      <a:round/>
                      <a:headEnd type="none" w="med" len="med"/>
                      <a:tailEnd type="none" w="med" len="med"/>
                    </a:lnT>
                    <a:lnB w="6350" cap="flat" cmpd="sng" algn="ctr">
                      <a:solidFill>
                        <a:srgbClr val="DCE3E8"/>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MOMENT, GPT4TS</a:t>
                      </a:r>
                      <a:endParaRPr lang="en-US" sz="1200" dirty="0">
                        <a:latin typeface="Calibri" charset="0"/>
                        <a:ea typeface="Calibri" charset="0"/>
                        <a:cs typeface="Calibri" charset="0"/>
                      </a:endParaRPr>
                    </a:p>
                  </a:txBody>
                  <a:tcPr marL="54864" marR="54864" marT="54864" marB="54864" anchor="ctr">
                    <a:lnL w="6350" cap="flat" cmpd="sng" algn="ctr">
                      <a:solidFill>
                        <a:srgbClr val="DCE3E8"/>
                      </a:solidFill>
                      <a:prstDash val="solid"/>
                      <a:round/>
                      <a:headEnd type="none" w="med" len="med"/>
                      <a:tailEnd type="none" w="med" len="med"/>
                    </a:lnL>
                    <a:lnR w="6350" cap="flat" cmpd="sng" algn="ctr">
                      <a:solidFill>
                        <a:srgbClr val="DCE3E8"/>
                      </a:solidFill>
                      <a:prstDash val="solid"/>
                      <a:round/>
                      <a:headEnd type="none" w="med" len="med"/>
                      <a:tailEnd type="none" w="med" len="med"/>
                    </a:lnR>
                    <a:lnT w="6350" cap="flat" cmpd="sng" algn="ctr">
                      <a:solidFill>
                        <a:srgbClr val="DCE3E8"/>
                      </a:solidFill>
                      <a:prstDash val="solid"/>
                      <a:round/>
                      <a:headEnd type="none" w="med" len="med"/>
                      <a:tailEnd type="none" w="med" len="med"/>
                    </a:lnT>
                    <a:lnB w="6350" cap="flat" cmpd="sng" algn="ctr">
                      <a:solidFill>
                        <a:srgbClr val="DCE3E8"/>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Transfer from pre-training</a:t>
                      </a:r>
                      <a:endParaRPr lang="en-US" sz="1200" dirty="0">
                        <a:latin typeface="Calibri" charset="0"/>
                        <a:ea typeface="Calibri" charset="0"/>
                        <a:cs typeface="Calibri" charset="0"/>
                      </a:endParaRPr>
                    </a:p>
                  </a:txBody>
                  <a:tcPr marL="54864" marR="54864" marT="54864" marB="54864" anchor="ctr">
                    <a:lnL w="6350" cap="flat" cmpd="sng" algn="ctr">
                      <a:solidFill>
                        <a:srgbClr val="DCE3E8"/>
                      </a:solidFill>
                      <a:prstDash val="solid"/>
                      <a:round/>
                      <a:headEnd type="none" w="med" len="med"/>
                      <a:tailEnd type="none" w="med" len="med"/>
                    </a:lnL>
                    <a:lnR w="6350" cap="flat" cmpd="sng" algn="ctr">
                      <a:solidFill>
                        <a:srgbClr val="DCE3E8"/>
                      </a:solidFill>
                      <a:prstDash val="solid"/>
                      <a:round/>
                      <a:headEnd type="none" w="med" len="med"/>
                      <a:tailEnd type="none" w="med" len="med"/>
                    </a:lnR>
                    <a:lnT w="6350" cap="flat" cmpd="sng" algn="ctr">
                      <a:solidFill>
                        <a:srgbClr val="DCE3E8"/>
                      </a:solidFill>
                      <a:prstDash val="solid"/>
                      <a:round/>
                      <a:headEnd type="none" w="med" len="med"/>
                      <a:tailEnd type="none" w="med" len="med"/>
                    </a:lnT>
                    <a:lnB w="6350" cap="flat" cmpd="sng" algn="ctr">
                      <a:solidFill>
                        <a:srgbClr val="DCE3E8"/>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Still early stage</a:t>
                      </a:r>
                      <a:endParaRPr lang="en-US" sz="1200" dirty="0">
                        <a:latin typeface="Calibri" charset="0"/>
                        <a:ea typeface="Calibri" charset="0"/>
                        <a:cs typeface="Calibri" charset="0"/>
                      </a:endParaRPr>
                    </a:p>
                  </a:txBody>
                  <a:tcPr marL="54864" marR="54864" marT="54864" marB="54864" anchor="ctr">
                    <a:lnL w="6350" cap="flat" cmpd="sng" algn="ctr">
                      <a:solidFill>
                        <a:srgbClr val="DCE3E8"/>
                      </a:solidFill>
                      <a:prstDash val="solid"/>
                      <a:round/>
                      <a:headEnd type="none" w="med" len="med"/>
                      <a:tailEnd type="none" w="med" len="med"/>
                    </a:lnL>
                    <a:lnR w="6350" cap="flat" cmpd="sng" algn="ctr">
                      <a:solidFill>
                        <a:srgbClr val="DCE3E8"/>
                      </a:solidFill>
                      <a:prstDash val="solid"/>
                      <a:round/>
                      <a:headEnd type="none" w="med" len="med"/>
                      <a:tailEnd type="none" w="med" len="med"/>
                    </a:lnR>
                    <a:lnT w="6350" cap="flat" cmpd="sng" algn="ctr">
                      <a:solidFill>
                        <a:srgbClr val="DCE3E8"/>
                      </a:solidFill>
                      <a:prstDash val="solid"/>
                      <a:round/>
                      <a:headEnd type="none" w="med" len="med"/>
                      <a:tailEnd type="none" w="med" len="med"/>
                    </a:lnT>
                    <a:lnB w="6350" cap="flat" cmpd="sng" algn="ctr">
                      <a:solidFill>
                        <a:srgbClr val="DCE3E8"/>
                      </a:solidFill>
                      <a:prstDash val="solid"/>
                      <a:round/>
                      <a:headEnd type="none" w="med" len="med"/>
                      <a:tailEnd type="none" w="med" len="med"/>
                    </a:lnB>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Four models worth knowing by name</a:t>
            </a:r>
            <a:endParaRPr lang="en-US" sz="2800" dirty="0"/>
          </a:p>
        </p:txBody>
      </p:sp>
      <p:sp>
        <p:nvSpPr>
          <p:cNvPr id="4" name="Shape 1"/>
          <p:cNvSpPr/>
          <p:nvPr/>
        </p:nvSpPr>
        <p:spPr>
          <a:xfrm>
            <a:off x="457200" y="1051560"/>
            <a:ext cx="4023360" cy="1600200"/>
          </a:xfrm>
          <a:prstGeom prst="roundRect">
            <a:avLst>
              <a:gd name="adj" fmla="val 4571"/>
            </a:avLst>
          </a:prstGeom>
          <a:solidFill>
            <a:schemeClr val="bg2"/>
          </a:solidFill>
          <a:ln w="12700">
            <a:solidFill>
              <a:schemeClr val="bg2"/>
            </a:solidFill>
            <a:prstDash val="solid"/>
          </a:ln>
        </p:spPr>
      </p:sp>
      <p:sp>
        <p:nvSpPr>
          <p:cNvPr id="5" name="m0"/>
          <p:cNvSpPr/>
          <p:nvPr/>
        </p:nvSpPr>
        <p:spPr>
          <a:xfrm>
            <a:off x="685800" y="1307592"/>
            <a:ext cx="292608" cy="292608"/>
          </a:xfrm>
          <a:prstGeom prst="ellipse">
            <a:avLst/>
          </a:prstGeom>
          <a:solidFill>
            <a:schemeClr val="tx1"/>
          </a:solidFill>
          <a:ln w="12700">
            <a:solidFill>
              <a:schemeClr val="tx1"/>
            </a:solidFill>
            <a:prstDash val="solid"/>
          </a:ln>
        </p:spPr>
      </p:sp>
      <p:sp>
        <p:nvSpPr>
          <p:cNvPr id="6" name="Text 3"/>
          <p:cNvSpPr txBox="1"/>
          <p:nvPr/>
        </p:nvSpPr>
        <p:spPr>
          <a:xfrm>
            <a:off x="1143000" y="1234440"/>
            <a:ext cx="1828800" cy="41148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GRU-D</a:t>
            </a:r>
            <a:endParaRPr lang="en-US" sz="2000" dirty="0"/>
          </a:p>
        </p:txBody>
      </p:sp>
      <p:sp>
        <p:nvSpPr>
          <p:cNvPr id="7" name="Text 4"/>
          <p:cNvSpPr txBox="1"/>
          <p:nvPr/>
        </p:nvSpPr>
        <p:spPr>
          <a:xfrm>
            <a:off x="2834640" y="1280160"/>
            <a:ext cx="1463040" cy="320040"/>
          </a:xfrm>
          <a:prstGeom prst="rect">
            <a:avLst/>
          </a:prstGeom>
          <a:noFill/>
          <a:ln/>
        </p:spPr>
        <p:txBody>
          <a:bodyPr wrap="square" lIns="0" tIns="0" rIns="0" bIns="0" rtlCol="0" anchor="ctr"/>
          <a:lstStyle/>
          <a:p>
            <a:pPr algn="r" indent="0" marL="0">
              <a:buNone/>
            </a:pPr>
            <a:r>
              <a:rPr lang="en-US" sz="1100" dirty="0">
                <a:solidFill>
                  <a:schemeClr val="accent4"/>
                </a:solidFill>
              </a:rPr>
              <a:t>RNN . 2018</a:t>
            </a:r>
            <a:endParaRPr lang="en-US" sz="1100" dirty="0"/>
          </a:p>
        </p:txBody>
      </p:sp>
      <p:sp>
        <p:nvSpPr>
          <p:cNvPr id="8" name="Text 5"/>
          <p:cNvSpPr txBox="1"/>
          <p:nvPr/>
        </p:nvSpPr>
        <p:spPr>
          <a:xfrm>
            <a:off x="685800" y="1783080"/>
            <a:ext cx="3566160" cy="731520"/>
          </a:xfrm>
          <a:prstGeom prst="rect">
            <a:avLst/>
          </a:prstGeom>
          <a:noFill/>
          <a:ln/>
        </p:spPr>
        <p:txBody>
          <a:bodyPr wrap="square" lIns="0" tIns="0" rIns="0" bIns="0" rtlCol="0" anchor="t"/>
          <a:lstStyle/>
          <a:p>
            <a:pPr indent="0" marL="0">
              <a:buNone/>
            </a:pPr>
            <a:r>
              <a:rPr lang="en-US" sz="1300" dirty="0">
                <a:solidFill>
                  <a:schemeClr val="tx1"/>
                </a:solidFill>
              </a:rPr>
              <a:t>Old readings fade: influence decays with the time since a variable was last seen</a:t>
            </a:r>
            <a:endParaRPr lang="en-US" sz="1300" dirty="0"/>
          </a:p>
        </p:txBody>
      </p:sp>
      <p:sp>
        <p:nvSpPr>
          <p:cNvPr id="9" name="Shape 6"/>
          <p:cNvSpPr/>
          <p:nvPr/>
        </p:nvSpPr>
        <p:spPr>
          <a:xfrm>
            <a:off x="4663440" y="1051560"/>
            <a:ext cx="4023360" cy="1600200"/>
          </a:xfrm>
          <a:prstGeom prst="roundRect">
            <a:avLst>
              <a:gd name="adj" fmla="val 4571"/>
            </a:avLst>
          </a:prstGeom>
          <a:solidFill>
            <a:schemeClr val="bg2"/>
          </a:solidFill>
          <a:ln w="12700">
            <a:solidFill>
              <a:schemeClr val="bg2"/>
            </a:solidFill>
            <a:prstDash val="solid"/>
          </a:ln>
        </p:spPr>
      </p:sp>
      <p:sp>
        <p:nvSpPr>
          <p:cNvPr id="10" name="m1"/>
          <p:cNvSpPr/>
          <p:nvPr/>
        </p:nvSpPr>
        <p:spPr>
          <a:xfrm>
            <a:off x="4892040" y="1307592"/>
            <a:ext cx="292608" cy="292608"/>
          </a:xfrm>
          <a:prstGeom prst="ellipse">
            <a:avLst/>
          </a:prstGeom>
          <a:solidFill>
            <a:schemeClr val="tx1"/>
          </a:solidFill>
          <a:ln w="12700">
            <a:solidFill>
              <a:schemeClr val="tx1"/>
            </a:solidFill>
            <a:prstDash val="solid"/>
          </a:ln>
        </p:spPr>
      </p:sp>
      <p:sp>
        <p:nvSpPr>
          <p:cNvPr id="11" name="Text 8"/>
          <p:cNvSpPr txBox="1"/>
          <p:nvPr/>
        </p:nvSpPr>
        <p:spPr>
          <a:xfrm>
            <a:off x="5349240" y="1234440"/>
            <a:ext cx="1828800" cy="41148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BRITS</a:t>
            </a:r>
            <a:endParaRPr lang="en-US" sz="2000" dirty="0"/>
          </a:p>
        </p:txBody>
      </p:sp>
      <p:sp>
        <p:nvSpPr>
          <p:cNvPr id="12" name="Text 9"/>
          <p:cNvSpPr txBox="1"/>
          <p:nvPr/>
        </p:nvSpPr>
        <p:spPr>
          <a:xfrm>
            <a:off x="7040880" y="1280160"/>
            <a:ext cx="1463040" cy="320040"/>
          </a:xfrm>
          <a:prstGeom prst="rect">
            <a:avLst/>
          </a:prstGeom>
          <a:noFill/>
          <a:ln/>
        </p:spPr>
        <p:txBody>
          <a:bodyPr wrap="square" lIns="0" tIns="0" rIns="0" bIns="0" rtlCol="0" anchor="ctr"/>
          <a:lstStyle/>
          <a:p>
            <a:pPr algn="r" indent="0" marL="0">
              <a:buNone/>
            </a:pPr>
            <a:r>
              <a:rPr lang="en-US" sz="1100" dirty="0">
                <a:solidFill>
                  <a:schemeClr val="accent4"/>
                </a:solidFill>
              </a:rPr>
              <a:t>RNN . 2018</a:t>
            </a:r>
            <a:endParaRPr lang="en-US" sz="1100" dirty="0"/>
          </a:p>
        </p:txBody>
      </p:sp>
      <p:sp>
        <p:nvSpPr>
          <p:cNvPr id="13" name="Text 10"/>
          <p:cNvSpPr txBox="1"/>
          <p:nvPr/>
        </p:nvSpPr>
        <p:spPr>
          <a:xfrm>
            <a:off x="4892040" y="1783080"/>
            <a:ext cx="3566160" cy="731520"/>
          </a:xfrm>
          <a:prstGeom prst="rect">
            <a:avLst/>
          </a:prstGeom>
          <a:noFill/>
          <a:ln/>
        </p:spPr>
        <p:txBody>
          <a:bodyPr wrap="square" lIns="0" tIns="0" rIns="0" bIns="0" rtlCol="0" anchor="t"/>
          <a:lstStyle/>
          <a:p>
            <a:pPr indent="0" marL="0">
              <a:buNone/>
            </a:pPr>
            <a:r>
              <a:rPr lang="en-US" sz="1300" dirty="0">
                <a:solidFill>
                  <a:schemeClr val="tx1"/>
                </a:solidFill>
              </a:rPr>
              <a:t>Treats gaps as variables in a bidirectional recurrent graph; can classify at the same time</a:t>
            </a:r>
            <a:endParaRPr lang="en-US" sz="1300" dirty="0"/>
          </a:p>
        </p:txBody>
      </p:sp>
      <p:sp>
        <p:nvSpPr>
          <p:cNvPr id="14" name="Shape 11"/>
          <p:cNvSpPr/>
          <p:nvPr/>
        </p:nvSpPr>
        <p:spPr>
          <a:xfrm>
            <a:off x="457200" y="2834640"/>
            <a:ext cx="4023360" cy="1600200"/>
          </a:xfrm>
          <a:prstGeom prst="roundRect">
            <a:avLst>
              <a:gd name="adj" fmla="val 4571"/>
            </a:avLst>
          </a:prstGeom>
          <a:solidFill>
            <a:schemeClr val="bg2"/>
          </a:solidFill>
          <a:ln w="12700">
            <a:solidFill>
              <a:schemeClr val="bg2"/>
            </a:solidFill>
            <a:prstDash val="solid"/>
          </a:ln>
        </p:spPr>
      </p:sp>
      <p:sp>
        <p:nvSpPr>
          <p:cNvPr id="15" name="m2"/>
          <p:cNvSpPr/>
          <p:nvPr/>
        </p:nvSpPr>
        <p:spPr>
          <a:xfrm>
            <a:off x="685800" y="3090672"/>
            <a:ext cx="292608" cy="292608"/>
          </a:xfrm>
          <a:prstGeom prst="ellipse">
            <a:avLst/>
          </a:prstGeom>
          <a:solidFill>
            <a:schemeClr val="accent1"/>
          </a:solidFill>
          <a:ln w="12700">
            <a:solidFill>
              <a:schemeClr val="accent1"/>
            </a:solidFill>
            <a:prstDash val="solid"/>
          </a:ln>
        </p:spPr>
      </p:sp>
      <p:sp>
        <p:nvSpPr>
          <p:cNvPr id="16" name="Text 13"/>
          <p:cNvSpPr txBox="1"/>
          <p:nvPr/>
        </p:nvSpPr>
        <p:spPr>
          <a:xfrm>
            <a:off x="1143000" y="3017520"/>
            <a:ext cx="1828800" cy="41148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SAITS</a:t>
            </a:r>
            <a:endParaRPr lang="en-US" sz="2000" dirty="0"/>
          </a:p>
        </p:txBody>
      </p:sp>
      <p:sp>
        <p:nvSpPr>
          <p:cNvPr id="17" name="Text 14"/>
          <p:cNvSpPr txBox="1"/>
          <p:nvPr/>
        </p:nvSpPr>
        <p:spPr>
          <a:xfrm>
            <a:off x="2834640" y="3063240"/>
            <a:ext cx="1463040" cy="320040"/>
          </a:xfrm>
          <a:prstGeom prst="rect">
            <a:avLst/>
          </a:prstGeom>
          <a:noFill/>
          <a:ln/>
        </p:spPr>
        <p:txBody>
          <a:bodyPr wrap="square" lIns="0" tIns="0" rIns="0" bIns="0" rtlCol="0" anchor="ctr"/>
          <a:lstStyle/>
          <a:p>
            <a:pPr algn="r" indent="0" marL="0">
              <a:buNone/>
            </a:pPr>
            <a:r>
              <a:rPr lang="en-US" sz="1100" dirty="0">
                <a:solidFill>
                  <a:schemeClr val="accent4"/>
                </a:solidFill>
              </a:rPr>
              <a:t>Attention . 2023</a:t>
            </a:r>
            <a:endParaRPr lang="en-US" sz="1100" dirty="0"/>
          </a:p>
        </p:txBody>
      </p:sp>
      <p:sp>
        <p:nvSpPr>
          <p:cNvPr id="18" name="Text 15"/>
          <p:cNvSpPr txBox="1"/>
          <p:nvPr/>
        </p:nvSpPr>
        <p:spPr>
          <a:xfrm>
            <a:off x="685800" y="3566160"/>
            <a:ext cx="3566160" cy="731520"/>
          </a:xfrm>
          <a:prstGeom prst="rect">
            <a:avLst/>
          </a:prstGeom>
          <a:noFill/>
          <a:ln/>
        </p:spPr>
        <p:txBody>
          <a:bodyPr wrap="square" lIns="0" tIns="0" rIns="0" bIns="0" rtlCol="0" anchor="t"/>
          <a:lstStyle/>
          <a:p>
            <a:pPr indent="0" marL="0">
              <a:buNone/>
            </a:pPr>
            <a:r>
              <a:rPr lang="en-US" sz="1300" dirty="0">
                <a:solidFill>
                  <a:schemeClr val="tx1"/>
                </a:solidFill>
              </a:rPr>
              <a:t>Diagonally masked self-attention trained on masked imputation plus reconstruction</a:t>
            </a:r>
            <a:endParaRPr lang="en-US" sz="1300" dirty="0"/>
          </a:p>
        </p:txBody>
      </p:sp>
      <p:sp>
        <p:nvSpPr>
          <p:cNvPr id="19" name="Shape 16"/>
          <p:cNvSpPr/>
          <p:nvPr/>
        </p:nvSpPr>
        <p:spPr>
          <a:xfrm>
            <a:off x="4663440" y="2834640"/>
            <a:ext cx="4023360" cy="1600200"/>
          </a:xfrm>
          <a:prstGeom prst="roundRect">
            <a:avLst>
              <a:gd name="adj" fmla="val 4571"/>
            </a:avLst>
          </a:prstGeom>
          <a:solidFill>
            <a:schemeClr val="bg2"/>
          </a:solidFill>
          <a:ln w="12700">
            <a:solidFill>
              <a:schemeClr val="bg2"/>
            </a:solidFill>
            <a:prstDash val="solid"/>
          </a:ln>
        </p:spPr>
      </p:sp>
      <p:sp>
        <p:nvSpPr>
          <p:cNvPr id="20" name="m3"/>
          <p:cNvSpPr/>
          <p:nvPr/>
        </p:nvSpPr>
        <p:spPr>
          <a:xfrm>
            <a:off x="4892040" y="3090672"/>
            <a:ext cx="292608" cy="292608"/>
          </a:xfrm>
          <a:prstGeom prst="ellipse">
            <a:avLst/>
          </a:prstGeom>
          <a:solidFill>
            <a:schemeClr val="accent2"/>
          </a:solidFill>
          <a:ln w="12700">
            <a:solidFill>
              <a:schemeClr val="accent2"/>
            </a:solidFill>
            <a:prstDash val="solid"/>
          </a:ln>
        </p:spPr>
      </p:sp>
      <p:sp>
        <p:nvSpPr>
          <p:cNvPr id="21" name="Text 18"/>
          <p:cNvSpPr txBox="1"/>
          <p:nvPr/>
        </p:nvSpPr>
        <p:spPr>
          <a:xfrm>
            <a:off x="5349240" y="3017520"/>
            <a:ext cx="1828800" cy="41148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CSDI</a:t>
            </a:r>
            <a:endParaRPr lang="en-US" sz="2000" dirty="0"/>
          </a:p>
        </p:txBody>
      </p:sp>
      <p:sp>
        <p:nvSpPr>
          <p:cNvPr id="22" name="Text 19"/>
          <p:cNvSpPr txBox="1"/>
          <p:nvPr/>
        </p:nvSpPr>
        <p:spPr>
          <a:xfrm>
            <a:off x="7040880" y="3063240"/>
            <a:ext cx="1463040" cy="320040"/>
          </a:xfrm>
          <a:prstGeom prst="rect">
            <a:avLst/>
          </a:prstGeom>
          <a:noFill/>
          <a:ln/>
        </p:spPr>
        <p:txBody>
          <a:bodyPr wrap="square" lIns="0" tIns="0" rIns="0" bIns="0" rtlCol="0" anchor="ctr"/>
          <a:lstStyle/>
          <a:p>
            <a:pPr algn="r" indent="0" marL="0">
              <a:buNone/>
            </a:pPr>
            <a:r>
              <a:rPr lang="en-US" sz="1100" dirty="0">
                <a:solidFill>
                  <a:schemeClr val="accent4"/>
                </a:solidFill>
              </a:rPr>
              <a:t>Diffusion . 2021</a:t>
            </a:r>
            <a:endParaRPr lang="en-US" sz="1100" dirty="0"/>
          </a:p>
        </p:txBody>
      </p:sp>
      <p:sp>
        <p:nvSpPr>
          <p:cNvPr id="23" name="Text 20"/>
          <p:cNvSpPr txBox="1"/>
          <p:nvPr/>
        </p:nvSpPr>
        <p:spPr>
          <a:xfrm>
            <a:off x="4892040" y="3566160"/>
            <a:ext cx="3566160" cy="731520"/>
          </a:xfrm>
          <a:prstGeom prst="rect">
            <a:avLst/>
          </a:prstGeom>
          <a:noFill/>
          <a:ln/>
        </p:spPr>
        <p:txBody>
          <a:bodyPr wrap="square" lIns="0" tIns="0" rIns="0" bIns="0" rtlCol="0" anchor="t"/>
          <a:lstStyle/>
          <a:p>
            <a:pPr indent="0" marL="0">
              <a:buNone/>
            </a:pPr>
            <a:r>
              <a:rPr lang="en-US" sz="1300" dirty="0">
                <a:solidFill>
                  <a:schemeClr val="tx1"/>
                </a:solidFill>
              </a:rPr>
              <a:t>Starts from noise and denoises toward plausible values, conditioned on what was observed</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From recurrent nets to foundation models</a:t>
            </a:r>
            <a:endParaRPr lang="en-US" sz="2800" dirty="0"/>
          </a:p>
        </p:txBody>
      </p:sp>
      <p:pic>
        <p:nvPicPr>
          <p:cNvPr id="4" name="fig5" descr="/home/claude/cmpe255-short-story/figures/fig5_timeline.png">    </p:cNvPr>
          <p:cNvPicPr>
            <a:picLocks noChangeAspect="1"/>
          </p:cNvPicPr>
          <p:nvPr/>
        </p:nvPicPr>
        <p:blipFill>
          <a:blip r:embed="rId1"/>
          <a:stretch>
            <a:fillRect/>
          </a:stretch>
        </p:blipFill>
        <p:spPr>
          <a:xfrm>
            <a:off x="457200" y="1097280"/>
            <a:ext cx="8229600" cy="2562990"/>
          </a:xfrm>
          <a:prstGeom prst="rect">
            <a:avLst/>
          </a:prstGeom>
        </p:spPr>
      </p:pic>
      <p:sp>
        <p:nvSpPr>
          <p:cNvPr id="5" name="Text 1"/>
          <p:cNvSpPr txBox="1"/>
          <p:nvPr/>
        </p:nvSpPr>
        <p:spPr>
          <a:xfrm>
            <a:off x="457200" y="3931920"/>
            <a:ext cx="8229600" cy="457200"/>
          </a:xfrm>
          <a:prstGeom prst="rect">
            <a:avLst/>
          </a:prstGeom>
          <a:noFill/>
          <a:ln/>
        </p:spPr>
        <p:txBody>
          <a:bodyPr wrap="square" lIns="0" tIns="0" rIns="0" bIns="0" rtlCol="0" anchor="ctr"/>
          <a:lstStyle/>
          <a:p>
            <a:pPr indent="0" marL="0">
              <a:buNone/>
            </a:pPr>
            <a:r>
              <a:rPr lang="en-US" sz="1400" i="1" dirty="0">
                <a:solidFill>
                  <a:schemeClr val="accent4"/>
                </a:solidFill>
              </a:rPr>
              <a:t>The arc: hand-crafted recurrent tricks, then generative models, then attention, now large pre-trained models.</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What the survey concludes</a:t>
            </a:r>
            <a:endParaRPr lang="en-US" sz="2800" dirty="0"/>
          </a:p>
        </p:txBody>
      </p:sp>
      <p:sp>
        <p:nvSpPr>
          <p:cNvPr id="4" name="f0"/>
          <p:cNvSpPr/>
          <p:nvPr/>
        </p:nvSpPr>
        <p:spPr>
          <a:xfrm>
            <a:off x="457200" y="1078992"/>
            <a:ext cx="329184" cy="329184"/>
          </a:xfrm>
          <a:prstGeom prst="ellipse">
            <a:avLst/>
          </a:prstGeom>
          <a:solidFill>
            <a:schemeClr val="accent1"/>
          </a:solidFill>
          <a:ln w="12700">
            <a:solidFill>
              <a:schemeClr val="accent1"/>
            </a:solidFill>
            <a:prstDash val="solid"/>
          </a:ln>
        </p:spPr>
      </p:sp>
      <p:sp>
        <p:nvSpPr>
          <p:cNvPr id="5" name="Text 2"/>
          <p:cNvSpPr txBox="1"/>
          <p:nvPr/>
        </p:nvSpPr>
        <p:spPr>
          <a:xfrm>
            <a:off x="1005840" y="1005840"/>
            <a:ext cx="2743200" cy="457200"/>
          </a:xfrm>
          <a:prstGeom prst="rect">
            <a:avLst/>
          </a:prstGeom>
          <a:noFill/>
          <a:ln/>
        </p:spPr>
        <p:txBody>
          <a:bodyPr wrap="square" lIns="0" tIns="0" rIns="0" bIns="0" rtlCol="0" anchor="ctr"/>
          <a:lstStyle/>
          <a:p>
            <a:pPr indent="0" marL="0">
              <a:buNone/>
            </a:pPr>
            <a:r>
              <a:rPr lang="en-US" sz="1600" b="1" dirty="0">
                <a:solidFill>
                  <a:schemeClr val="tx1"/>
                </a:solidFill>
              </a:rPr>
              <a:t>Attention leads</a:t>
            </a:r>
            <a:endParaRPr lang="en-US" sz="1600" dirty="0"/>
          </a:p>
        </p:txBody>
      </p:sp>
      <p:sp>
        <p:nvSpPr>
          <p:cNvPr id="6" name="Text 3"/>
          <p:cNvSpPr txBox="1"/>
          <p:nvPr/>
        </p:nvSpPr>
        <p:spPr>
          <a:xfrm>
            <a:off x="3749040" y="1005840"/>
            <a:ext cx="4937760" cy="457200"/>
          </a:xfrm>
          <a:prstGeom prst="rect">
            <a:avLst/>
          </a:prstGeom>
          <a:noFill/>
          <a:ln/>
        </p:spPr>
        <p:txBody>
          <a:bodyPr wrap="square" lIns="0" tIns="0" rIns="0" bIns="0" rtlCol="0" anchor="ctr"/>
          <a:lstStyle/>
          <a:p>
            <a:pPr indent="0" marL="0">
              <a:buNone/>
            </a:pPr>
            <a:r>
              <a:rPr lang="en-US" sz="1400" dirty="0">
                <a:solidFill>
                  <a:schemeClr val="accent4"/>
                </a:solidFill>
              </a:rPr>
              <a:t>Beats RNN and CNN by modelling long-range links in parallel</a:t>
            </a:r>
            <a:endParaRPr lang="en-US" sz="1400" dirty="0"/>
          </a:p>
        </p:txBody>
      </p:sp>
      <p:sp>
        <p:nvSpPr>
          <p:cNvPr id="7" name="f1"/>
          <p:cNvSpPr/>
          <p:nvPr/>
        </p:nvSpPr>
        <p:spPr>
          <a:xfrm>
            <a:off x="457200" y="1792224"/>
            <a:ext cx="329184" cy="329184"/>
          </a:xfrm>
          <a:prstGeom prst="ellipse">
            <a:avLst/>
          </a:prstGeom>
          <a:solidFill>
            <a:schemeClr val="accent2"/>
          </a:solidFill>
          <a:ln w="12700">
            <a:solidFill>
              <a:schemeClr val="accent2"/>
            </a:solidFill>
            <a:prstDash val="solid"/>
          </a:ln>
        </p:spPr>
      </p:sp>
      <p:sp>
        <p:nvSpPr>
          <p:cNvPr id="8" name="Text 5"/>
          <p:cNvSpPr txBox="1"/>
          <p:nvPr/>
        </p:nvSpPr>
        <p:spPr>
          <a:xfrm>
            <a:off x="1005840" y="1719072"/>
            <a:ext cx="2743200" cy="457200"/>
          </a:xfrm>
          <a:prstGeom prst="rect">
            <a:avLst/>
          </a:prstGeom>
          <a:noFill/>
          <a:ln/>
        </p:spPr>
        <p:txBody>
          <a:bodyPr wrap="square" lIns="0" tIns="0" rIns="0" bIns="0" rtlCol="0" anchor="ctr"/>
          <a:lstStyle/>
          <a:p>
            <a:pPr indent="0" marL="0">
              <a:buNone/>
            </a:pPr>
            <a:r>
              <a:rPr lang="en-US" sz="1600" b="1" dirty="0">
                <a:solidFill>
                  <a:schemeClr val="tx1"/>
                </a:solidFill>
              </a:rPr>
              <a:t>Diffusion is richest</a:t>
            </a:r>
            <a:endParaRPr lang="en-US" sz="1600" dirty="0"/>
          </a:p>
        </p:txBody>
      </p:sp>
      <p:sp>
        <p:nvSpPr>
          <p:cNvPr id="9" name="Text 6"/>
          <p:cNvSpPr txBox="1"/>
          <p:nvPr/>
        </p:nvSpPr>
        <p:spPr>
          <a:xfrm>
            <a:off x="3749040" y="1719072"/>
            <a:ext cx="4937760" cy="457200"/>
          </a:xfrm>
          <a:prstGeom prst="rect">
            <a:avLst/>
          </a:prstGeom>
          <a:noFill/>
          <a:ln/>
        </p:spPr>
        <p:txBody>
          <a:bodyPr wrap="square" lIns="0" tIns="0" rIns="0" bIns="0" rtlCol="0" anchor="ctr"/>
          <a:lstStyle/>
          <a:p>
            <a:pPr indent="0" marL="0">
              <a:buNone/>
            </a:pPr>
            <a:r>
              <a:rPr lang="en-US" sz="1400" dirty="0">
                <a:solidFill>
                  <a:schemeClr val="accent4"/>
                </a:solidFill>
              </a:rPr>
              <a:t>Most expressive and gives uncertainty, but costly</a:t>
            </a:r>
            <a:endParaRPr lang="en-US" sz="1400" dirty="0"/>
          </a:p>
        </p:txBody>
      </p:sp>
      <p:sp>
        <p:nvSpPr>
          <p:cNvPr id="10" name="f2"/>
          <p:cNvSpPr/>
          <p:nvPr/>
        </p:nvSpPr>
        <p:spPr>
          <a:xfrm>
            <a:off x="457200" y="2505456"/>
            <a:ext cx="329184" cy="329184"/>
          </a:xfrm>
          <a:prstGeom prst="ellipse">
            <a:avLst/>
          </a:prstGeom>
          <a:solidFill>
            <a:schemeClr val="accent3"/>
          </a:solidFill>
          <a:ln w="12700">
            <a:solidFill>
              <a:schemeClr val="accent3"/>
            </a:solidFill>
            <a:prstDash val="solid"/>
          </a:ln>
        </p:spPr>
      </p:sp>
      <p:sp>
        <p:nvSpPr>
          <p:cNvPr id="11" name="Text 8"/>
          <p:cNvSpPr txBox="1"/>
          <p:nvPr/>
        </p:nvSpPr>
        <p:spPr>
          <a:xfrm>
            <a:off x="1005840" y="2432304"/>
            <a:ext cx="2743200" cy="457200"/>
          </a:xfrm>
          <a:prstGeom prst="rect">
            <a:avLst/>
          </a:prstGeom>
          <a:noFill/>
          <a:ln/>
        </p:spPr>
        <p:txBody>
          <a:bodyPr wrap="square" lIns="0" tIns="0" rIns="0" bIns="0" rtlCol="0" anchor="ctr"/>
          <a:lstStyle/>
          <a:p>
            <a:pPr indent="0" marL="0">
              <a:buNone/>
            </a:pPr>
            <a:r>
              <a:rPr lang="en-US" sz="1600" b="1" dirty="0">
                <a:solidFill>
                  <a:schemeClr val="tx1"/>
                </a:solidFill>
              </a:rPr>
              <a:t>MNAR is neglected</a:t>
            </a:r>
            <a:endParaRPr lang="en-US" sz="1600" dirty="0"/>
          </a:p>
        </p:txBody>
      </p:sp>
      <p:sp>
        <p:nvSpPr>
          <p:cNvPr id="12" name="Text 9"/>
          <p:cNvSpPr txBox="1"/>
          <p:nvPr/>
        </p:nvSpPr>
        <p:spPr>
          <a:xfrm>
            <a:off x="3749040" y="2432304"/>
            <a:ext cx="4937760" cy="457200"/>
          </a:xfrm>
          <a:prstGeom prst="rect">
            <a:avLst/>
          </a:prstGeom>
          <a:noFill/>
          <a:ln/>
        </p:spPr>
        <p:txBody>
          <a:bodyPr wrap="square" lIns="0" tIns="0" rIns="0" bIns="0" rtlCol="0" anchor="ctr"/>
          <a:lstStyle/>
          <a:p>
            <a:pPr indent="0" marL="0">
              <a:buNone/>
            </a:pPr>
            <a:r>
              <a:rPr lang="en-US" sz="1400" dirty="0">
                <a:solidFill>
                  <a:schemeClr val="accent4"/>
                </a:solidFill>
              </a:rPr>
              <a:t>Most methods assume MCAR/MAR; real clinical data often is not</a:t>
            </a:r>
            <a:endParaRPr lang="en-US" sz="1400" dirty="0"/>
          </a:p>
        </p:txBody>
      </p:sp>
      <p:sp>
        <p:nvSpPr>
          <p:cNvPr id="13" name="f3"/>
          <p:cNvSpPr/>
          <p:nvPr/>
        </p:nvSpPr>
        <p:spPr>
          <a:xfrm>
            <a:off x="457200" y="3218688"/>
            <a:ext cx="329184" cy="329184"/>
          </a:xfrm>
          <a:prstGeom prst="ellipse">
            <a:avLst/>
          </a:prstGeom>
          <a:solidFill>
            <a:schemeClr val="accent3"/>
          </a:solidFill>
          <a:ln w="12700">
            <a:solidFill>
              <a:schemeClr val="accent3"/>
            </a:solidFill>
            <a:prstDash val="solid"/>
          </a:ln>
        </p:spPr>
      </p:sp>
      <p:sp>
        <p:nvSpPr>
          <p:cNvPr id="14" name="Text 11"/>
          <p:cNvSpPr txBox="1"/>
          <p:nvPr/>
        </p:nvSpPr>
        <p:spPr>
          <a:xfrm>
            <a:off x="1005840" y="3145536"/>
            <a:ext cx="2743200" cy="457200"/>
          </a:xfrm>
          <a:prstGeom prst="rect">
            <a:avLst/>
          </a:prstGeom>
          <a:noFill/>
          <a:ln/>
        </p:spPr>
        <p:txBody>
          <a:bodyPr wrap="square" lIns="0" tIns="0" rIns="0" bIns="0" rtlCol="0" anchor="ctr"/>
          <a:lstStyle/>
          <a:p>
            <a:pPr indent="0" marL="0">
              <a:buNone/>
            </a:pPr>
            <a:r>
              <a:rPr lang="en-US" sz="1600" b="1" dirty="0">
                <a:solidFill>
                  <a:schemeClr val="tx1"/>
                </a:solidFill>
              </a:rPr>
              <a:t>Two-stage loses signal</a:t>
            </a:r>
            <a:endParaRPr lang="en-US" sz="1600" dirty="0"/>
          </a:p>
        </p:txBody>
      </p:sp>
      <p:sp>
        <p:nvSpPr>
          <p:cNvPr id="15" name="Text 12"/>
          <p:cNvSpPr txBox="1"/>
          <p:nvPr/>
        </p:nvSpPr>
        <p:spPr>
          <a:xfrm>
            <a:off x="3749040" y="3145536"/>
            <a:ext cx="4937760" cy="457200"/>
          </a:xfrm>
          <a:prstGeom prst="rect">
            <a:avLst/>
          </a:prstGeom>
          <a:noFill/>
          <a:ln/>
        </p:spPr>
        <p:txBody>
          <a:bodyPr wrap="square" lIns="0" tIns="0" rIns="0" bIns="0" rtlCol="0" anchor="ctr"/>
          <a:lstStyle/>
          <a:p>
            <a:pPr indent="0" marL="0">
              <a:buNone/>
            </a:pPr>
            <a:r>
              <a:rPr lang="en-US" sz="1400" dirty="0">
                <a:solidFill>
                  <a:schemeClr val="accent4"/>
                </a:solidFill>
              </a:rPr>
              <a:t>Impute-then-predict discards the mask</a:t>
            </a:r>
            <a:endParaRPr lang="en-US" sz="1400" dirty="0"/>
          </a:p>
        </p:txBody>
      </p:sp>
      <p:sp>
        <p:nvSpPr>
          <p:cNvPr id="16" name="f4"/>
          <p:cNvSpPr/>
          <p:nvPr/>
        </p:nvSpPr>
        <p:spPr>
          <a:xfrm>
            <a:off x="457200" y="3931920"/>
            <a:ext cx="329184" cy="329184"/>
          </a:xfrm>
          <a:prstGeom prst="ellipse">
            <a:avLst/>
          </a:prstGeom>
          <a:solidFill>
            <a:schemeClr val="accent5"/>
          </a:solidFill>
          <a:ln w="12700">
            <a:solidFill>
              <a:schemeClr val="accent5"/>
            </a:solidFill>
            <a:prstDash val="solid"/>
          </a:ln>
        </p:spPr>
      </p:sp>
      <p:sp>
        <p:nvSpPr>
          <p:cNvPr id="17" name="Text 14"/>
          <p:cNvSpPr txBox="1"/>
          <p:nvPr/>
        </p:nvSpPr>
        <p:spPr>
          <a:xfrm>
            <a:off x="1005840" y="3858768"/>
            <a:ext cx="2743200" cy="457200"/>
          </a:xfrm>
          <a:prstGeom prst="rect">
            <a:avLst/>
          </a:prstGeom>
          <a:noFill/>
          <a:ln/>
        </p:spPr>
        <p:txBody>
          <a:bodyPr wrap="square" lIns="0" tIns="0" rIns="0" bIns="0" rtlCol="0" anchor="ctr"/>
          <a:lstStyle/>
          <a:p>
            <a:pPr indent="0" marL="0">
              <a:buNone/>
            </a:pPr>
            <a:r>
              <a:rPr lang="en-US" sz="1600" b="1" dirty="0">
                <a:solidFill>
                  <a:schemeClr val="tx1"/>
                </a:solidFill>
              </a:rPr>
              <a:t>Comparisons were messy</a:t>
            </a:r>
            <a:endParaRPr lang="en-US" sz="1600" dirty="0"/>
          </a:p>
        </p:txBody>
      </p:sp>
      <p:sp>
        <p:nvSpPr>
          <p:cNvPr id="18" name="Text 15"/>
          <p:cNvSpPr txBox="1"/>
          <p:nvPr/>
        </p:nvSpPr>
        <p:spPr>
          <a:xfrm>
            <a:off x="3749040" y="3858768"/>
            <a:ext cx="4937760" cy="457200"/>
          </a:xfrm>
          <a:prstGeom prst="rect">
            <a:avLst/>
          </a:prstGeom>
          <a:noFill/>
          <a:ln/>
        </p:spPr>
        <p:txBody>
          <a:bodyPr wrap="square" lIns="0" tIns="0" rIns="0" bIns="0" rtlCol="0" anchor="ctr"/>
          <a:lstStyle/>
          <a:p>
            <a:pPr indent="0" marL="0">
              <a:buNone/>
            </a:pPr>
            <a:r>
              <a:rPr lang="en-US" sz="1400" dirty="0">
                <a:solidFill>
                  <a:schemeClr val="accent4"/>
                </a:solidFill>
              </a:rPr>
              <a:t>Hence shared tools: PyPOTS and TSI-Bench</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Impute then predict, or encode and predict?</a:t>
            </a:r>
            <a:endParaRPr lang="en-US" sz="2800" dirty="0"/>
          </a:p>
        </p:txBody>
      </p:sp>
      <p:pic>
        <p:nvPicPr>
          <p:cNvPr id="4" name="fig4" descr="/home/claude/cmpe255-short-story/figures/fig4_two_pipelines.png">    </p:cNvPr>
          <p:cNvPicPr>
            <a:picLocks noChangeAspect="1"/>
          </p:cNvPicPr>
          <p:nvPr/>
        </p:nvPicPr>
        <p:blipFill>
          <a:blip r:embed="rId1"/>
          <a:stretch>
            <a:fillRect/>
          </a:stretch>
        </p:blipFill>
        <p:spPr>
          <a:xfrm>
            <a:off x="640080" y="1005840"/>
            <a:ext cx="7863840" cy="2969284"/>
          </a:xfrm>
          <a:prstGeom prst="rect">
            <a:avLst/>
          </a:prstGeom>
        </p:spPr>
      </p:pic>
      <p:sp>
        <p:nvSpPr>
          <p:cNvPr id="5" name="Text 1"/>
          <p:cNvSpPr txBox="1"/>
          <p:nvPr/>
        </p:nvSpPr>
        <p:spPr>
          <a:xfrm>
            <a:off x="457200" y="4160520"/>
            <a:ext cx="8229600" cy="411480"/>
          </a:xfrm>
          <a:prstGeom prst="rect">
            <a:avLst/>
          </a:prstGeom>
          <a:noFill/>
          <a:ln/>
        </p:spPr>
        <p:txBody>
          <a:bodyPr wrap="square" lIns="0" tIns="0" rIns="0" bIns="0" rtlCol="0" anchor="ctr"/>
          <a:lstStyle/>
          <a:p>
            <a:pPr indent="0" marL="0">
              <a:buNone/>
            </a:pPr>
            <a:r>
              <a:rPr lang="en-US" sz="1400" b="1" dirty="0">
                <a:solidFill>
                  <a:schemeClr val="accent3"/>
                </a:solidFill>
              </a:rPr>
              <a:t>The authors favour end-to-end models when the pattern of missingness itself carries meaning.</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Shared tools for fair comparison</a:t>
            </a:r>
            <a:endParaRPr lang="en-US" sz="2800" dirty="0"/>
          </a:p>
        </p:txBody>
      </p:sp>
      <p:sp>
        <p:nvSpPr>
          <p:cNvPr id="4" name="Shape 1"/>
          <p:cNvSpPr/>
          <p:nvPr/>
        </p:nvSpPr>
        <p:spPr>
          <a:xfrm>
            <a:off x="457200" y="1188720"/>
            <a:ext cx="1920240" cy="1737360"/>
          </a:xfrm>
          <a:prstGeom prst="roundRect">
            <a:avLst>
              <a:gd name="adj" fmla="val 4211"/>
            </a:avLst>
          </a:prstGeom>
          <a:solidFill>
            <a:schemeClr val="tx1"/>
          </a:solidFill>
          <a:ln w="12700">
            <a:solidFill>
              <a:schemeClr val="tx1"/>
            </a:solidFill>
            <a:prstDash val="solid"/>
          </a:ln>
        </p:spPr>
      </p:sp>
      <p:sp>
        <p:nvSpPr>
          <p:cNvPr id="5" name="Text 2"/>
          <p:cNvSpPr txBox="1"/>
          <p:nvPr/>
        </p:nvSpPr>
        <p:spPr>
          <a:xfrm>
            <a:off x="594360" y="1325880"/>
            <a:ext cx="1645920" cy="822960"/>
          </a:xfrm>
          <a:prstGeom prst="rect">
            <a:avLst/>
          </a:prstGeom>
          <a:noFill/>
          <a:ln/>
        </p:spPr>
        <p:txBody>
          <a:bodyPr wrap="square" lIns="0" tIns="0" rIns="0" bIns="0" rtlCol="0" anchor="ctr"/>
          <a:lstStyle/>
          <a:p>
            <a:pPr algn="ctr" indent="0" marL="0">
              <a:buNone/>
            </a:pPr>
            <a:r>
              <a:rPr lang="en-US" sz="4000" b="1" dirty="0">
                <a:solidFill>
                  <a:schemeClr val="accent2"/>
                </a:solidFill>
                <a:latin typeface="Cambria" pitchFamily="34" charset="0"/>
                <a:ea typeface="Cambria" pitchFamily="34" charset="-122"/>
                <a:cs typeface="Cambria" pitchFamily="34" charset="-120"/>
              </a:rPr>
              <a:t>37</a:t>
            </a:r>
            <a:endParaRPr lang="en-US" sz="4000" dirty="0"/>
          </a:p>
        </p:txBody>
      </p:sp>
      <p:sp>
        <p:nvSpPr>
          <p:cNvPr id="6" name="Text 3"/>
          <p:cNvSpPr txBox="1"/>
          <p:nvPr/>
        </p:nvSpPr>
        <p:spPr>
          <a:xfrm>
            <a:off x="594360" y="2194560"/>
            <a:ext cx="1645920" cy="594360"/>
          </a:xfrm>
          <a:prstGeom prst="rect">
            <a:avLst/>
          </a:prstGeom>
          <a:noFill/>
          <a:ln/>
        </p:spPr>
        <p:txBody>
          <a:bodyPr wrap="square" lIns="0" tIns="0" rIns="0" bIns="0" rtlCol="0" anchor="t"/>
          <a:lstStyle/>
          <a:p>
            <a:pPr algn="ctr" indent="0" marL="0">
              <a:buNone/>
            </a:pPr>
            <a:r>
              <a:rPr lang="en-US" sz="1300" dirty="0">
                <a:solidFill>
                  <a:schemeClr val="bg1"/>
                </a:solidFill>
              </a:rPr>
              <a:t>imputation models in PyPOTS</a:t>
            </a:r>
            <a:endParaRPr lang="en-US" sz="1300" dirty="0"/>
          </a:p>
        </p:txBody>
      </p:sp>
      <p:sp>
        <p:nvSpPr>
          <p:cNvPr id="7" name="Shape 4"/>
          <p:cNvSpPr/>
          <p:nvPr/>
        </p:nvSpPr>
        <p:spPr>
          <a:xfrm>
            <a:off x="2560320" y="1188720"/>
            <a:ext cx="1920240" cy="1737360"/>
          </a:xfrm>
          <a:prstGeom prst="roundRect">
            <a:avLst>
              <a:gd name="adj" fmla="val 4211"/>
            </a:avLst>
          </a:prstGeom>
          <a:solidFill>
            <a:schemeClr val="bg2"/>
          </a:solidFill>
          <a:ln w="12700">
            <a:solidFill>
              <a:schemeClr val="bg2"/>
            </a:solidFill>
            <a:prstDash val="solid"/>
          </a:ln>
        </p:spPr>
      </p:sp>
      <p:sp>
        <p:nvSpPr>
          <p:cNvPr id="8" name="Text 5"/>
          <p:cNvSpPr txBox="1"/>
          <p:nvPr/>
        </p:nvSpPr>
        <p:spPr>
          <a:xfrm>
            <a:off x="2697480" y="1325880"/>
            <a:ext cx="1645920" cy="822960"/>
          </a:xfrm>
          <a:prstGeom prst="rect">
            <a:avLst/>
          </a:prstGeom>
          <a:noFill/>
          <a:ln/>
        </p:spPr>
        <p:txBody>
          <a:bodyPr wrap="square" lIns="0" tIns="0" rIns="0" bIns="0" rtlCol="0" anchor="ctr"/>
          <a:lstStyle/>
          <a:p>
            <a:pPr algn="ctr" indent="0" marL="0">
              <a:buNone/>
            </a:pPr>
            <a:r>
              <a:rPr lang="en-US" sz="4000" b="1" dirty="0">
                <a:solidFill>
                  <a:schemeClr val="accent1"/>
                </a:solidFill>
                <a:latin typeface="Cambria" pitchFamily="34" charset="0"/>
                <a:ea typeface="Cambria" pitchFamily="34" charset="-122"/>
                <a:cs typeface="Cambria" pitchFamily="34" charset="-120"/>
              </a:rPr>
              <a:t>34,804</a:t>
            </a:r>
            <a:endParaRPr lang="en-US" sz="4000" dirty="0"/>
          </a:p>
        </p:txBody>
      </p:sp>
      <p:sp>
        <p:nvSpPr>
          <p:cNvPr id="9" name="Text 6"/>
          <p:cNvSpPr txBox="1"/>
          <p:nvPr/>
        </p:nvSpPr>
        <p:spPr>
          <a:xfrm>
            <a:off x="2697480" y="2194560"/>
            <a:ext cx="1645920" cy="594360"/>
          </a:xfrm>
          <a:prstGeom prst="rect">
            <a:avLst/>
          </a:prstGeom>
          <a:noFill/>
          <a:ln/>
        </p:spPr>
        <p:txBody>
          <a:bodyPr wrap="square" lIns="0" tIns="0" rIns="0" bIns="0" rtlCol="0" anchor="t"/>
          <a:lstStyle/>
          <a:p>
            <a:pPr algn="ctr" indent="0" marL="0">
              <a:buNone/>
            </a:pPr>
            <a:r>
              <a:rPr lang="en-US" sz="1300" dirty="0">
                <a:solidFill>
                  <a:schemeClr val="accent4"/>
                </a:solidFill>
              </a:rPr>
              <a:t>experiments in TSI-Bench</a:t>
            </a:r>
            <a:endParaRPr lang="en-US" sz="1300" dirty="0"/>
          </a:p>
        </p:txBody>
      </p:sp>
      <p:sp>
        <p:nvSpPr>
          <p:cNvPr id="10" name="Shape 7"/>
          <p:cNvSpPr/>
          <p:nvPr/>
        </p:nvSpPr>
        <p:spPr>
          <a:xfrm>
            <a:off x="4663440" y="1188720"/>
            <a:ext cx="1920240" cy="1737360"/>
          </a:xfrm>
          <a:prstGeom prst="roundRect">
            <a:avLst>
              <a:gd name="adj" fmla="val 4211"/>
            </a:avLst>
          </a:prstGeom>
          <a:solidFill>
            <a:schemeClr val="bg2"/>
          </a:solidFill>
          <a:ln w="12700">
            <a:solidFill>
              <a:schemeClr val="bg2"/>
            </a:solidFill>
            <a:prstDash val="solid"/>
          </a:ln>
        </p:spPr>
      </p:sp>
      <p:sp>
        <p:nvSpPr>
          <p:cNvPr id="11" name="Text 8"/>
          <p:cNvSpPr txBox="1"/>
          <p:nvPr/>
        </p:nvSpPr>
        <p:spPr>
          <a:xfrm>
            <a:off x="4800600" y="1325880"/>
            <a:ext cx="1645920" cy="822960"/>
          </a:xfrm>
          <a:prstGeom prst="rect">
            <a:avLst/>
          </a:prstGeom>
          <a:noFill/>
          <a:ln/>
        </p:spPr>
        <p:txBody>
          <a:bodyPr wrap="square" lIns="0" tIns="0" rIns="0" bIns="0" rtlCol="0" anchor="ctr"/>
          <a:lstStyle/>
          <a:p>
            <a:pPr algn="ctr" indent="0" marL="0">
              <a:buNone/>
            </a:pPr>
            <a:r>
              <a:rPr lang="en-US" sz="4000" b="1" dirty="0">
                <a:solidFill>
                  <a:schemeClr val="accent1"/>
                </a:solidFill>
                <a:latin typeface="Cambria" pitchFamily="34" charset="0"/>
                <a:ea typeface="Cambria" pitchFamily="34" charset="-122"/>
                <a:cs typeface="Cambria" pitchFamily="34" charset="-120"/>
              </a:rPr>
              <a:t>28</a:t>
            </a:r>
            <a:endParaRPr lang="en-US" sz="4000" dirty="0"/>
          </a:p>
        </p:txBody>
      </p:sp>
      <p:sp>
        <p:nvSpPr>
          <p:cNvPr id="12" name="Text 9"/>
          <p:cNvSpPr txBox="1"/>
          <p:nvPr/>
        </p:nvSpPr>
        <p:spPr>
          <a:xfrm>
            <a:off x="4800600" y="2194560"/>
            <a:ext cx="1645920" cy="594360"/>
          </a:xfrm>
          <a:prstGeom prst="rect">
            <a:avLst/>
          </a:prstGeom>
          <a:noFill/>
          <a:ln/>
        </p:spPr>
        <p:txBody>
          <a:bodyPr wrap="square" lIns="0" tIns="0" rIns="0" bIns="0" rtlCol="0" anchor="t"/>
          <a:lstStyle/>
          <a:p>
            <a:pPr algn="ctr" indent="0" marL="0">
              <a:buNone/>
            </a:pPr>
            <a:r>
              <a:rPr lang="en-US" sz="1300" dirty="0">
                <a:solidFill>
                  <a:schemeClr val="accent4"/>
                </a:solidFill>
              </a:rPr>
              <a:t>algorithms benchmarked</a:t>
            </a:r>
            <a:endParaRPr lang="en-US" sz="1300" dirty="0"/>
          </a:p>
        </p:txBody>
      </p:sp>
      <p:sp>
        <p:nvSpPr>
          <p:cNvPr id="13" name="Shape 10"/>
          <p:cNvSpPr/>
          <p:nvPr/>
        </p:nvSpPr>
        <p:spPr>
          <a:xfrm>
            <a:off x="6766560" y="1188720"/>
            <a:ext cx="1920240" cy="1737360"/>
          </a:xfrm>
          <a:prstGeom prst="roundRect">
            <a:avLst>
              <a:gd name="adj" fmla="val 4211"/>
            </a:avLst>
          </a:prstGeom>
          <a:solidFill>
            <a:schemeClr val="bg2"/>
          </a:solidFill>
          <a:ln w="12700">
            <a:solidFill>
              <a:schemeClr val="bg2"/>
            </a:solidFill>
            <a:prstDash val="solid"/>
          </a:ln>
        </p:spPr>
      </p:sp>
      <p:sp>
        <p:nvSpPr>
          <p:cNvPr id="14" name="Text 11"/>
          <p:cNvSpPr txBox="1"/>
          <p:nvPr/>
        </p:nvSpPr>
        <p:spPr>
          <a:xfrm>
            <a:off x="6903720" y="1325880"/>
            <a:ext cx="1645920" cy="822960"/>
          </a:xfrm>
          <a:prstGeom prst="rect">
            <a:avLst/>
          </a:prstGeom>
          <a:noFill/>
          <a:ln/>
        </p:spPr>
        <p:txBody>
          <a:bodyPr wrap="square" lIns="0" tIns="0" rIns="0" bIns="0" rtlCol="0" anchor="ctr"/>
          <a:lstStyle/>
          <a:p>
            <a:pPr algn="ctr" indent="0" marL="0">
              <a:buNone/>
            </a:pPr>
            <a:r>
              <a:rPr lang="en-US" sz="4000" b="1" dirty="0">
                <a:solidFill>
                  <a:schemeClr val="accent1"/>
                </a:solidFill>
                <a:latin typeface="Cambria" pitchFamily="34" charset="0"/>
                <a:ea typeface="Cambria" pitchFamily="34" charset="-122"/>
                <a:cs typeface="Cambria" pitchFamily="34" charset="-120"/>
              </a:rPr>
              <a:t>8</a:t>
            </a:r>
            <a:endParaRPr lang="en-US" sz="4000" dirty="0"/>
          </a:p>
        </p:txBody>
      </p:sp>
      <p:sp>
        <p:nvSpPr>
          <p:cNvPr id="15" name="Text 12"/>
          <p:cNvSpPr txBox="1"/>
          <p:nvPr/>
        </p:nvSpPr>
        <p:spPr>
          <a:xfrm>
            <a:off x="6903720" y="2194560"/>
            <a:ext cx="1645920" cy="594360"/>
          </a:xfrm>
          <a:prstGeom prst="rect">
            <a:avLst/>
          </a:prstGeom>
          <a:noFill/>
          <a:ln/>
        </p:spPr>
        <p:txBody>
          <a:bodyPr wrap="square" lIns="0" tIns="0" rIns="0" bIns="0" rtlCol="0" anchor="t"/>
          <a:lstStyle/>
          <a:p>
            <a:pPr algn="ctr" indent="0" marL="0">
              <a:buNone/>
            </a:pPr>
            <a:r>
              <a:rPr lang="en-US" sz="1300" dirty="0">
                <a:solidFill>
                  <a:schemeClr val="accent4"/>
                </a:solidFill>
              </a:rPr>
              <a:t>datasets, varied missingness</a:t>
            </a:r>
            <a:endParaRPr lang="en-US" sz="1300" dirty="0"/>
          </a:p>
        </p:txBody>
      </p:sp>
      <p:sp>
        <p:nvSpPr>
          <p:cNvPr id="16" name="Text 13"/>
          <p:cNvSpPr txBox="1"/>
          <p:nvPr/>
        </p:nvSpPr>
        <p:spPr>
          <a:xfrm>
            <a:off x="457200" y="3246120"/>
            <a:ext cx="8229600" cy="914400"/>
          </a:xfrm>
          <a:prstGeom prst="rect">
            <a:avLst/>
          </a:prstGeom>
          <a:noFill/>
          <a:ln/>
        </p:spPr>
        <p:txBody>
          <a:bodyPr wrap="square" lIns="0" tIns="0" rIns="0" bIns="0" rtlCol="0" anchor="t"/>
          <a:lstStyle/>
          <a:p>
            <a:pPr indent="0" marL="0">
              <a:spcAft>
                <a:spcPts val="600"/>
              </a:spcAft>
              <a:buNone/>
            </a:pPr>
            <a:r>
              <a:rPr lang="en-US" sz="1400" b="1" dirty="0">
                <a:solidFill>
                  <a:schemeClr val="tx1"/>
                </a:solidFill>
              </a:rPr>
              <a:t>PyPOTS: </a:t>
            </a:r>
            <a:pPr indent="0" marL="0">
              <a:spcAft>
                <a:spcPts val="600"/>
              </a:spcAft>
              <a:buNone/>
            </a:pPr>
            <a:r>
              <a:rPr lang="en-US" sz="1400" dirty="0">
                <a:solidFill>
                  <a:schemeClr val="tx1"/>
                </a:solidFill>
              </a:rPr>
              <a:t>Python toolbox for partially observed time series (same research group)</a:t>
            </a:r>
            <a:endParaRPr lang="en-US" sz="1400" dirty="0"/>
          </a:p>
          <a:p>
            <a:pPr indent="0" marL="0">
              <a:spcAft>
                <a:spcPts val="600"/>
              </a:spcAft>
              <a:buNone/>
            </a:pPr>
            <a:r>
              <a:rPr lang="en-US" sz="1400" b="1" dirty="0">
                <a:solidFill>
                  <a:schemeClr val="tx1"/>
                </a:solidFill>
              </a:rPr>
              <a:t>TSI-Bench: </a:t>
            </a:r>
            <a:pPr indent="0" marL="0">
              <a:spcAft>
                <a:spcPts val="600"/>
              </a:spcAft>
              <a:buNone/>
            </a:pPr>
            <a:r>
              <a:rPr lang="en-US" sz="1400" dirty="0">
                <a:solidFill>
                  <a:schemeClr val="tx1"/>
                </a:solidFill>
              </a:rPr>
              <a:t>benchmark suite on top of PyPOTS with standard pipelines</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Open challenges listed</a:t>
            </a:r>
            <a:endParaRPr lang="en-US" sz="2800" dirty="0"/>
          </a:p>
        </p:txBody>
      </p:sp>
      <p:sp>
        <p:nvSpPr>
          <p:cNvPr id="4" name="Shape 1"/>
          <p:cNvSpPr/>
          <p:nvPr/>
        </p:nvSpPr>
        <p:spPr>
          <a:xfrm>
            <a:off x="457200" y="1051560"/>
            <a:ext cx="4023360" cy="1600200"/>
          </a:xfrm>
          <a:prstGeom prst="roundRect">
            <a:avLst>
              <a:gd name="adj" fmla="val 4571"/>
            </a:avLst>
          </a:prstGeom>
          <a:solidFill>
            <a:schemeClr val="bg2"/>
          </a:solidFill>
          <a:ln w="12700">
            <a:solidFill>
              <a:schemeClr val="bg2"/>
            </a:solidFill>
            <a:prstDash val="solid"/>
          </a:ln>
        </p:spPr>
      </p:sp>
      <p:sp>
        <p:nvSpPr>
          <p:cNvPr id="5" name="c0"/>
          <p:cNvSpPr/>
          <p:nvPr/>
        </p:nvSpPr>
        <p:spPr>
          <a:xfrm>
            <a:off x="685800" y="1325880"/>
            <a:ext cx="274320" cy="274320"/>
          </a:xfrm>
          <a:prstGeom prst="ellipse">
            <a:avLst/>
          </a:prstGeom>
          <a:solidFill>
            <a:schemeClr val="bg1">
              <a:alpha val="0"/>
            </a:schemeClr>
          </a:solidFill>
          <a:ln w="25400">
            <a:solidFill>
              <a:schemeClr val="accent3"/>
            </a:solidFill>
            <a:prstDash val="solid"/>
          </a:ln>
        </p:spPr>
      </p:sp>
      <p:sp>
        <p:nvSpPr>
          <p:cNvPr id="6" name="Text 3"/>
          <p:cNvSpPr txBox="1"/>
          <p:nvPr/>
        </p:nvSpPr>
        <p:spPr>
          <a:xfrm>
            <a:off x="1143000" y="1252728"/>
            <a:ext cx="3108960" cy="411480"/>
          </a:xfrm>
          <a:prstGeom prst="rect">
            <a:avLst/>
          </a:prstGeom>
          <a:noFill/>
          <a:ln/>
        </p:spPr>
        <p:txBody>
          <a:bodyPr wrap="square" lIns="0" tIns="0" rIns="0" bIns="0" rtlCol="0" anchor="ctr"/>
          <a:lstStyle/>
          <a:p>
            <a:pPr indent="0" marL="0">
              <a:buNone/>
            </a:pPr>
            <a:r>
              <a:rPr lang="en-US" sz="1700" b="1" dirty="0">
                <a:solidFill>
                  <a:schemeClr val="tx1"/>
                </a:solidFill>
              </a:rPr>
              <a:t>Missingness patterns</a:t>
            </a:r>
            <a:endParaRPr lang="en-US" sz="1700" dirty="0"/>
          </a:p>
        </p:txBody>
      </p:sp>
      <p:sp>
        <p:nvSpPr>
          <p:cNvPr id="7" name="Text 4"/>
          <p:cNvSpPr txBox="1"/>
          <p:nvPr/>
        </p:nvSpPr>
        <p:spPr>
          <a:xfrm>
            <a:off x="685800" y="1783080"/>
            <a:ext cx="3566160" cy="594360"/>
          </a:xfrm>
          <a:prstGeom prst="rect">
            <a:avLst/>
          </a:prstGeom>
          <a:noFill/>
          <a:ln/>
        </p:spPr>
        <p:txBody>
          <a:bodyPr wrap="square" lIns="0" tIns="0" rIns="0" bIns="0" rtlCol="0" anchor="t"/>
          <a:lstStyle/>
          <a:p>
            <a:pPr indent="0" marL="0">
              <a:buNone/>
            </a:pPr>
            <a:r>
              <a:rPr lang="en-US" sz="1300" dirty="0">
                <a:solidFill>
                  <a:schemeClr val="accent4"/>
                </a:solidFill>
              </a:rPr>
              <a:t>Handle MNAR properly instead of assuming it away</a:t>
            </a:r>
            <a:endParaRPr lang="en-US" sz="1300" dirty="0"/>
          </a:p>
        </p:txBody>
      </p:sp>
      <p:sp>
        <p:nvSpPr>
          <p:cNvPr id="8" name="Shape 5"/>
          <p:cNvSpPr/>
          <p:nvPr/>
        </p:nvSpPr>
        <p:spPr>
          <a:xfrm>
            <a:off x="4663440" y="1051560"/>
            <a:ext cx="4023360" cy="1600200"/>
          </a:xfrm>
          <a:prstGeom prst="roundRect">
            <a:avLst>
              <a:gd name="adj" fmla="val 4571"/>
            </a:avLst>
          </a:prstGeom>
          <a:solidFill>
            <a:schemeClr val="bg2"/>
          </a:solidFill>
          <a:ln w="12700">
            <a:solidFill>
              <a:schemeClr val="bg2"/>
            </a:solidFill>
            <a:prstDash val="solid"/>
          </a:ln>
        </p:spPr>
      </p:sp>
      <p:sp>
        <p:nvSpPr>
          <p:cNvPr id="9" name="c1"/>
          <p:cNvSpPr/>
          <p:nvPr/>
        </p:nvSpPr>
        <p:spPr>
          <a:xfrm>
            <a:off x="4892040" y="1325880"/>
            <a:ext cx="274320" cy="274320"/>
          </a:xfrm>
          <a:prstGeom prst="ellipse">
            <a:avLst/>
          </a:prstGeom>
          <a:solidFill>
            <a:schemeClr val="bg1">
              <a:alpha val="0"/>
            </a:schemeClr>
          </a:solidFill>
          <a:ln w="25400">
            <a:solidFill>
              <a:schemeClr val="accent2"/>
            </a:solidFill>
            <a:prstDash val="solid"/>
          </a:ln>
        </p:spPr>
      </p:sp>
      <p:sp>
        <p:nvSpPr>
          <p:cNvPr id="10" name="Text 7"/>
          <p:cNvSpPr txBox="1"/>
          <p:nvPr/>
        </p:nvSpPr>
        <p:spPr>
          <a:xfrm>
            <a:off x="5349240" y="1252728"/>
            <a:ext cx="3108960" cy="411480"/>
          </a:xfrm>
          <a:prstGeom prst="rect">
            <a:avLst/>
          </a:prstGeom>
          <a:noFill/>
          <a:ln/>
        </p:spPr>
        <p:txBody>
          <a:bodyPr wrap="square" lIns="0" tIns="0" rIns="0" bIns="0" rtlCol="0" anchor="ctr"/>
          <a:lstStyle/>
          <a:p>
            <a:pPr indent="0" marL="0">
              <a:buNone/>
            </a:pPr>
            <a:r>
              <a:rPr lang="en-US" sz="1700" b="1" dirty="0">
                <a:solidFill>
                  <a:schemeClr val="tx1"/>
                </a:solidFill>
              </a:rPr>
              <a:t>Scalability</a:t>
            </a:r>
            <a:endParaRPr lang="en-US" sz="1700" dirty="0"/>
          </a:p>
        </p:txBody>
      </p:sp>
      <p:sp>
        <p:nvSpPr>
          <p:cNvPr id="11" name="Text 8"/>
          <p:cNvSpPr txBox="1"/>
          <p:nvPr/>
        </p:nvSpPr>
        <p:spPr>
          <a:xfrm>
            <a:off x="4892040" y="1783080"/>
            <a:ext cx="3566160" cy="594360"/>
          </a:xfrm>
          <a:prstGeom prst="rect">
            <a:avLst/>
          </a:prstGeom>
          <a:noFill/>
          <a:ln/>
        </p:spPr>
        <p:txBody>
          <a:bodyPr wrap="square" lIns="0" tIns="0" rIns="0" bIns="0" rtlCol="0" anchor="t"/>
          <a:lstStyle/>
          <a:p>
            <a:pPr indent="0" marL="0">
              <a:buNone/>
            </a:pPr>
            <a:r>
              <a:rPr lang="en-US" sz="1300" dirty="0">
                <a:solidFill>
                  <a:schemeClr val="accent4"/>
                </a:solidFill>
              </a:rPr>
              <a:t>Deep imputers are heavy; need parallel and distributed training</a:t>
            </a:r>
            <a:endParaRPr lang="en-US" sz="1300" dirty="0"/>
          </a:p>
        </p:txBody>
      </p:sp>
      <p:sp>
        <p:nvSpPr>
          <p:cNvPr id="12" name="Shape 9"/>
          <p:cNvSpPr/>
          <p:nvPr/>
        </p:nvSpPr>
        <p:spPr>
          <a:xfrm>
            <a:off x="457200" y="2834640"/>
            <a:ext cx="4023360" cy="1600200"/>
          </a:xfrm>
          <a:prstGeom prst="roundRect">
            <a:avLst>
              <a:gd name="adj" fmla="val 4571"/>
            </a:avLst>
          </a:prstGeom>
          <a:solidFill>
            <a:schemeClr val="bg2"/>
          </a:solidFill>
          <a:ln w="12700">
            <a:solidFill>
              <a:schemeClr val="bg2"/>
            </a:solidFill>
            <a:prstDash val="solid"/>
          </a:ln>
        </p:spPr>
      </p:sp>
      <p:sp>
        <p:nvSpPr>
          <p:cNvPr id="13" name="c2"/>
          <p:cNvSpPr/>
          <p:nvPr/>
        </p:nvSpPr>
        <p:spPr>
          <a:xfrm>
            <a:off x="685800" y="3108960"/>
            <a:ext cx="274320" cy="274320"/>
          </a:xfrm>
          <a:prstGeom prst="ellipse">
            <a:avLst/>
          </a:prstGeom>
          <a:solidFill>
            <a:schemeClr val="bg1">
              <a:alpha val="0"/>
            </a:schemeClr>
          </a:solidFill>
          <a:ln w="25400">
            <a:solidFill>
              <a:schemeClr val="accent1"/>
            </a:solidFill>
            <a:prstDash val="solid"/>
          </a:ln>
        </p:spPr>
      </p:sp>
      <p:sp>
        <p:nvSpPr>
          <p:cNvPr id="14" name="Text 11"/>
          <p:cNvSpPr txBox="1"/>
          <p:nvPr/>
        </p:nvSpPr>
        <p:spPr>
          <a:xfrm>
            <a:off x="1143000" y="3035808"/>
            <a:ext cx="3108960" cy="411480"/>
          </a:xfrm>
          <a:prstGeom prst="rect">
            <a:avLst/>
          </a:prstGeom>
          <a:noFill/>
          <a:ln/>
        </p:spPr>
        <p:txBody>
          <a:bodyPr wrap="square" lIns="0" tIns="0" rIns="0" bIns="0" rtlCol="0" anchor="ctr"/>
          <a:lstStyle/>
          <a:p>
            <a:pPr indent="0" marL="0">
              <a:buNone/>
            </a:pPr>
            <a:r>
              <a:rPr lang="en-US" sz="1700" b="1" dirty="0">
                <a:solidFill>
                  <a:schemeClr val="tx1"/>
                </a:solidFill>
              </a:rPr>
              <a:t>Downstream focus</a:t>
            </a:r>
            <a:endParaRPr lang="en-US" sz="1700" dirty="0"/>
          </a:p>
        </p:txBody>
      </p:sp>
      <p:sp>
        <p:nvSpPr>
          <p:cNvPr id="15" name="Text 12"/>
          <p:cNvSpPr txBox="1"/>
          <p:nvPr/>
        </p:nvSpPr>
        <p:spPr>
          <a:xfrm>
            <a:off x="685800" y="3566160"/>
            <a:ext cx="3566160" cy="594360"/>
          </a:xfrm>
          <a:prstGeom prst="rect">
            <a:avLst/>
          </a:prstGeom>
          <a:noFill/>
          <a:ln/>
        </p:spPr>
        <p:txBody>
          <a:bodyPr wrap="square" lIns="0" tIns="0" rIns="0" bIns="0" rtlCol="0" anchor="t"/>
          <a:lstStyle/>
          <a:p>
            <a:pPr indent="0" marL="0">
              <a:buNone/>
            </a:pPr>
            <a:r>
              <a:rPr lang="en-US" sz="1300" dirty="0">
                <a:solidFill>
                  <a:schemeClr val="accent4"/>
                </a:solidFill>
              </a:rPr>
              <a:t>Judge imputation by task results, not only reconstruction error</a:t>
            </a:r>
            <a:endParaRPr lang="en-US" sz="1300" dirty="0"/>
          </a:p>
        </p:txBody>
      </p:sp>
      <p:sp>
        <p:nvSpPr>
          <p:cNvPr id="16" name="Shape 13"/>
          <p:cNvSpPr/>
          <p:nvPr/>
        </p:nvSpPr>
        <p:spPr>
          <a:xfrm>
            <a:off x="4663440" y="2834640"/>
            <a:ext cx="4023360" cy="1600200"/>
          </a:xfrm>
          <a:prstGeom prst="roundRect">
            <a:avLst>
              <a:gd name="adj" fmla="val 4571"/>
            </a:avLst>
          </a:prstGeom>
          <a:solidFill>
            <a:schemeClr val="bg2"/>
          </a:solidFill>
          <a:ln w="12700">
            <a:solidFill>
              <a:schemeClr val="bg2"/>
            </a:solidFill>
            <a:prstDash val="solid"/>
          </a:ln>
        </p:spPr>
      </p:sp>
      <p:sp>
        <p:nvSpPr>
          <p:cNvPr id="17" name="c3"/>
          <p:cNvSpPr/>
          <p:nvPr/>
        </p:nvSpPr>
        <p:spPr>
          <a:xfrm>
            <a:off x="4892040" y="3108960"/>
            <a:ext cx="274320" cy="274320"/>
          </a:xfrm>
          <a:prstGeom prst="ellipse">
            <a:avLst/>
          </a:prstGeom>
          <a:solidFill>
            <a:schemeClr val="bg1">
              <a:alpha val="0"/>
            </a:schemeClr>
          </a:solidFill>
          <a:ln w="25400">
            <a:solidFill>
              <a:schemeClr val="accent5"/>
            </a:solidFill>
            <a:prstDash val="solid"/>
          </a:ln>
        </p:spPr>
      </p:sp>
      <p:sp>
        <p:nvSpPr>
          <p:cNvPr id="18" name="Text 15"/>
          <p:cNvSpPr txBox="1"/>
          <p:nvPr/>
        </p:nvSpPr>
        <p:spPr>
          <a:xfrm>
            <a:off x="5349240" y="3035808"/>
            <a:ext cx="3108960" cy="411480"/>
          </a:xfrm>
          <a:prstGeom prst="rect">
            <a:avLst/>
          </a:prstGeom>
          <a:noFill/>
          <a:ln/>
        </p:spPr>
        <p:txBody>
          <a:bodyPr wrap="square" lIns="0" tIns="0" rIns="0" bIns="0" rtlCol="0" anchor="ctr"/>
          <a:lstStyle/>
          <a:p>
            <a:pPr indent="0" marL="0">
              <a:buNone/>
            </a:pPr>
            <a:r>
              <a:rPr lang="en-US" sz="1700" b="1" dirty="0">
                <a:solidFill>
                  <a:schemeClr val="tx1"/>
                </a:solidFill>
              </a:rPr>
              <a:t>LLMs for imputation</a:t>
            </a:r>
            <a:endParaRPr lang="en-US" sz="1700" dirty="0"/>
          </a:p>
        </p:txBody>
      </p:sp>
      <p:sp>
        <p:nvSpPr>
          <p:cNvPr id="19" name="Text 16"/>
          <p:cNvSpPr txBox="1"/>
          <p:nvPr/>
        </p:nvSpPr>
        <p:spPr>
          <a:xfrm>
            <a:off x="4892040" y="3566160"/>
            <a:ext cx="3566160" cy="594360"/>
          </a:xfrm>
          <a:prstGeom prst="rect">
            <a:avLst/>
          </a:prstGeom>
          <a:noFill/>
          <a:ln/>
        </p:spPr>
        <p:txBody>
          <a:bodyPr wrap="square" lIns="0" tIns="0" rIns="0" bIns="0" rtlCol="0" anchor="t"/>
          <a:lstStyle/>
          <a:p>
            <a:pPr indent="0" marL="0">
              <a:buNone/>
            </a:pPr>
            <a:r>
              <a:rPr lang="en-US" sz="1300" dirty="0">
                <a:solidFill>
                  <a:schemeClr val="accent4"/>
                </a:solidFill>
              </a:rPr>
              <a:t>Domain knowledge, missingness priors, text and metadata inputs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chemeClr val="tx1"/>
                </a:solidFill>
                <a:latin typeface="Cambria" pitchFamily="34" charset="0"/>
                <a:ea typeface="Cambria" pitchFamily="34" charset="-122"/>
                <a:cs typeface="Cambria" pitchFamily="34" charset="-120"/>
              </a:rPr>
              <a:t>My take: missingness is a clinical signal</a:t>
            </a:r>
            <a:endParaRPr lang="en-US" sz="2800" dirty="0"/>
          </a:p>
        </p:txBody>
      </p:sp>
      <p:sp>
        <p:nvSpPr>
          <p:cNvPr id="4" name="Shape 1"/>
          <p:cNvSpPr/>
          <p:nvPr/>
        </p:nvSpPr>
        <p:spPr>
          <a:xfrm>
            <a:off x="457200" y="1051560"/>
            <a:ext cx="3931920" cy="3429000"/>
          </a:xfrm>
          <a:prstGeom prst="roundRect">
            <a:avLst>
              <a:gd name="adj" fmla="val 2133"/>
            </a:avLst>
          </a:prstGeom>
          <a:solidFill>
            <a:schemeClr val="tx1"/>
          </a:solidFill>
          <a:ln w="12700">
            <a:solidFill>
              <a:schemeClr val="tx1"/>
            </a:solidFill>
            <a:prstDash val="solid"/>
          </a:ln>
        </p:spPr>
      </p:sp>
      <p:sp>
        <p:nvSpPr>
          <p:cNvPr id="5" name="Text 2"/>
          <p:cNvSpPr txBox="1"/>
          <p:nvPr/>
        </p:nvSpPr>
        <p:spPr>
          <a:xfrm>
            <a:off x="731520" y="1280160"/>
            <a:ext cx="3383280" cy="1828800"/>
          </a:xfrm>
          <a:prstGeom prst="rect">
            <a:avLst/>
          </a:prstGeom>
          <a:noFill/>
          <a:ln/>
        </p:spPr>
        <p:txBody>
          <a:bodyPr wrap="square" lIns="0" tIns="0" rIns="0" bIns="0" rtlCol="0" anchor="t"/>
          <a:lstStyle/>
          <a:p>
            <a:pPr indent="0" marL="0">
              <a:buNone/>
            </a:pPr>
            <a:r>
              <a:rPr lang="en-US" sz="2200" i="1" dirty="0">
                <a:solidFill>
                  <a:schemeClr val="bg1"/>
                </a:solidFill>
                <a:latin typeface="Cambria" pitchFamily="34" charset="0"/>
                <a:ea typeface="Cambria" pitchFamily="34" charset="-122"/>
                <a:cs typeface="Cambria" pitchFamily="34" charset="-120"/>
              </a:rPr>
              <a:t>“Throwing away the mask is throwing away a clinician's suspicion.”</a:t>
            </a:r>
            <a:endParaRPr lang="en-US" sz="2200" dirty="0"/>
          </a:p>
        </p:txBody>
      </p:sp>
      <p:sp>
        <p:nvSpPr>
          <p:cNvPr id="6" name="Text 3"/>
          <p:cNvSpPr txBox="1"/>
          <p:nvPr/>
        </p:nvSpPr>
        <p:spPr>
          <a:xfrm>
            <a:off x="731520" y="3291840"/>
            <a:ext cx="3383280" cy="1005840"/>
          </a:xfrm>
          <a:prstGeom prst="rect">
            <a:avLst/>
          </a:prstGeom>
          <a:noFill/>
          <a:ln/>
        </p:spPr>
        <p:txBody>
          <a:bodyPr wrap="square" lIns="0" tIns="0" rIns="0" bIns="0" rtlCol="0" anchor="t"/>
          <a:lstStyle/>
          <a:p>
            <a:pPr indent="0" marL="0">
              <a:buNone/>
            </a:pPr>
            <a:r>
              <a:rPr lang="en-US" sz="1200" dirty="0">
                <a:solidFill>
                  <a:schemeClr val="accent2"/>
                </a:solidFill>
              </a:rPr>
              <a:t>From my sepsis detection work on PhysioNet 2019, where labs are ordered when clinicians are worried</a:t>
            </a:r>
            <a:endParaRPr lang="en-US" sz="1200" dirty="0"/>
          </a:p>
        </p:txBody>
      </p:sp>
      <p:sp>
        <p:nvSpPr>
          <p:cNvPr id="7" name="Text 4"/>
          <p:cNvSpPr txBox="1"/>
          <p:nvPr/>
        </p:nvSpPr>
        <p:spPr>
          <a:xfrm>
            <a:off x="4754880" y="1097280"/>
            <a:ext cx="3931920" cy="3383280"/>
          </a:xfrm>
          <a:prstGeom prst="rect">
            <a:avLst/>
          </a:prstGeom>
          <a:noFill/>
          <a:ln/>
        </p:spPr>
        <p:txBody>
          <a:bodyPr wrap="square" lIns="0" tIns="0" rIns="0" bIns="0" rtlCol="0" anchor="t"/>
          <a:lstStyle/>
          <a:p>
            <a:pPr indent="0" marL="0">
              <a:spcAft>
                <a:spcPts val="600"/>
              </a:spcAft>
              <a:buNone/>
            </a:pPr>
            <a:r>
              <a:rPr lang="en-US" sz="1600" b="1" dirty="0">
                <a:solidFill>
                  <a:schemeClr val="accent1"/>
                </a:solidFill>
              </a:rPr>
              <a:t>Agree</a:t>
            </a:r>
            <a:endParaRPr lang="en-US" sz="1600" dirty="0"/>
          </a:p>
          <a:p>
            <a:pPr marL="342900" indent="-342900">
              <a:spcAft>
                <a:spcPts val="600"/>
              </a:spcAft>
              <a:buSzPct val="100000"/>
              <a:buChar char="•"/>
            </a:pPr>
            <a:r>
              <a:rPr lang="en-US" sz="1600" dirty="0">
                <a:solidFill>
                  <a:schemeClr val="tx1"/>
                </a:solidFill>
              </a:rPr>
              <a:t>Encode-and-predict fits clinical data far better than filling first</a:t>
            </a:r>
            <a:endParaRPr lang="en-US" sz="1600" dirty="0"/>
          </a:p>
          <a:p>
            <a:pPr indent="0" marL="0">
              <a:spcAft>
                <a:spcPts val="600"/>
              </a:spcAft>
              <a:buNone/>
            </a:pPr>
            <a:r>
              <a:rPr lang="en-US" sz="1600" b="1" dirty="0">
                <a:solidFill>
                  <a:schemeClr val="accent3"/>
                </a:solidFill>
              </a:rPr>
              <a:t>Wish there were more</a:t>
            </a:r>
            <a:endParaRPr lang="en-US" sz="1600" dirty="0"/>
          </a:p>
          <a:p>
            <a:pPr marL="342900" indent="-342900">
              <a:spcAft>
                <a:spcPts val="600"/>
              </a:spcAft>
              <a:buSzPct val="100000"/>
              <a:buChar char="•"/>
            </a:pPr>
            <a:r>
              <a:rPr lang="en-US" sz="1600" dirty="0">
                <a:solidFill>
                  <a:schemeClr val="tx1"/>
                </a:solidFill>
              </a:rPr>
              <a:t>Evaluation on real decisions, like how early an alert fires</a:t>
            </a:r>
            <a:endParaRPr lang="en-US" sz="1600" dirty="0"/>
          </a:p>
          <a:p>
            <a:pPr indent="0" marL="0">
              <a:spcAft>
                <a:spcPts val="600"/>
              </a:spcAft>
              <a:buNone/>
            </a:pPr>
            <a:r>
              <a:rPr lang="en-US" sz="1600" b="1" dirty="0">
                <a:solidFill>
                  <a:schemeClr val="accent2"/>
                </a:solidFill>
              </a:rPr>
              <a:t>Next step</a:t>
            </a:r>
            <a:endParaRPr lang="en-US" sz="1600" dirty="0"/>
          </a:p>
          <a:p>
            <a:pPr marL="342900" indent="-342900">
              <a:spcAft>
                <a:spcPts val="600"/>
              </a:spcAft>
              <a:buSzPct val="100000"/>
              <a:buChar char="•"/>
            </a:pPr>
            <a:r>
              <a:rPr lang="en-US" sz="1600" dirty="0">
                <a:solidFill>
                  <a:schemeClr val="tx1"/>
                </a:solidFill>
              </a:rPr>
              <a:t>Treat MNAR as the default, not the exception</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0"/>
          <p:cNvSpPr/>
          <p:nvPr>
            <p:ph idx="100" type="title" hasCustomPrompt="1"/>
          </p:nvPr>
        </p:nvSpPr>
        <p:spPr>
          <a:xfrm>
            <a:off x="548640" y="1417320"/>
            <a:ext cx="8046720" cy="1371600"/>
          </a:xfrm>
          <a:prstGeom prst="rect">
            <a:avLst/>
          </a:prstGeom>
          <a:noFill/>
          <a:ln/>
        </p:spPr>
        <p:txBody>
          <a:bodyPr wrap="square" lIns="0" tIns="0" rIns="0" bIns="0" rtlCol="0" anchor="b"/>
          <a:lstStyle/>
          <a:p>
            <a:pPr algn="l" indent="0" marL="0">
              <a:buNone/>
            </a:pPr>
            <a:r>
              <a:rPr lang="en-US" sz="3600" b="1" dirty="0">
                <a:solidFill>
                  <a:schemeClr val="bg1"/>
                </a:solidFill>
                <a:latin typeface="Cambria" pitchFamily="34" charset="0"/>
                <a:ea typeface="Cambria" pitchFamily="34" charset="-122"/>
                <a:cs typeface="Cambria" pitchFamily="34" charset="-120"/>
              </a:rPr>
              <a:t>Takeaways</a:t>
            </a:r>
            <a:endParaRPr lang="en-US" sz="3600" dirty="0"/>
          </a:p>
        </p:txBody>
      </p:sp>
      <p:sp>
        <p:nvSpPr>
          <p:cNvPr id="4" name="Text 0"/>
          <p:cNvSpPr/>
          <p:nvPr>
            <p:ph idx="101" type="body" hasCustomPrompt="1"/>
          </p:nvPr>
        </p:nvSpPr>
        <p:spPr>
          <a:xfrm>
            <a:off x="548640" y="2926080"/>
            <a:ext cx="8046720" cy="11887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bg2"/>
                </a:solidFill>
              </a:rPr>
              <a:t>Missing data is the norm. Ask why a value is missing before picking a method.</a:t>
            </a:r>
            <a:endParaRPr lang="en-US" sz="1600" dirty="0"/>
          </a:p>
          <a:p>
            <a:pPr marL="342900" indent="-342900">
              <a:spcAft>
                <a:spcPts val="800"/>
              </a:spcAft>
              <a:buSzPct val="100000"/>
              <a:buChar char="•"/>
            </a:pPr>
            <a:r>
              <a:rPr lang="en-US" sz="1600" dirty="0">
                <a:solidFill>
                  <a:schemeClr val="bg2"/>
                </a:solidFill>
              </a:rPr>
              <a:t>Attention is a strong default; diffusion when you need uncertainty and have compute.</a:t>
            </a:r>
            <a:endParaRPr lang="en-US" sz="1600" dirty="0"/>
          </a:p>
          <a:p>
            <a:pPr marL="342900" indent="-342900">
              <a:spcAft>
                <a:spcPts val="800"/>
              </a:spcAft>
              <a:buSzPct val="100000"/>
              <a:buChar char="•"/>
            </a:pPr>
            <a:r>
              <a:rPr lang="en-US" sz="1600" dirty="0">
                <a:solidFill>
                  <a:schemeClr val="bg2"/>
                </a:solidFill>
              </a:rPr>
              <a:t>If missingness carries meaning, keep the mask as a feature.</a:t>
            </a:r>
            <a:endParaRPr lang="en-US" sz="1600" dirty="0"/>
          </a:p>
          <a:p>
            <a:pPr indent="0" marL="0">
              <a:spcAft>
                <a:spcPts val="800"/>
              </a:spcAft>
              <a:buNone/>
            </a:pPr>
            <a:r>
              <a:rPr lang="en-US" sz="1600" dirty="0">
                <a:solidFill>
                  <a:schemeClr val="accent2"/>
                </a:solidFill>
              </a:rPr>
              <a:t>Paper: arxiv.org/abs/2402.04059   |   Tools: PyPOTS, TSI-Bench</a:t>
            </a:r>
            <a:endParaRPr lang="en-US" sz="1600" dirty="0"/>
          </a:p>
        </p:txBody>
      </p:sp>
      <p:sp>
        <p:nvSpPr>
          <p:cNvPr id="5" name="motifE0"/>
          <p:cNvSpPr/>
          <p:nvPr/>
        </p:nvSpPr>
        <p:spPr>
          <a:xfrm>
            <a:off x="548640" y="685800"/>
            <a:ext cx="182880" cy="182880"/>
          </a:xfrm>
          <a:prstGeom prst="ellipse">
            <a:avLst/>
          </a:prstGeom>
          <a:solidFill>
            <a:schemeClr val="accent1"/>
          </a:solidFill>
          <a:ln w="12700">
            <a:solidFill>
              <a:schemeClr val="accent1"/>
            </a:solidFill>
            <a:prstDash val="solid"/>
          </a:ln>
        </p:spPr>
      </p:sp>
      <p:sp>
        <p:nvSpPr>
          <p:cNvPr id="6" name="motifE1"/>
          <p:cNvSpPr/>
          <p:nvPr/>
        </p:nvSpPr>
        <p:spPr>
          <a:xfrm>
            <a:off x="877824" y="685800"/>
            <a:ext cx="182880" cy="182880"/>
          </a:xfrm>
          <a:prstGeom prst="ellipse">
            <a:avLst/>
          </a:prstGeom>
          <a:solidFill>
            <a:schemeClr val="accent1"/>
          </a:solidFill>
          <a:ln w="12700">
            <a:solidFill>
              <a:schemeClr val="accent1"/>
            </a:solidFill>
            <a:prstDash val="solid"/>
          </a:ln>
        </p:spPr>
      </p:sp>
      <p:sp>
        <p:nvSpPr>
          <p:cNvPr id="7" name="motifE2"/>
          <p:cNvSpPr/>
          <p:nvPr/>
        </p:nvSpPr>
        <p:spPr>
          <a:xfrm>
            <a:off x="1207008" y="685800"/>
            <a:ext cx="182880" cy="182880"/>
          </a:xfrm>
          <a:prstGeom prst="ellipse">
            <a:avLst/>
          </a:prstGeom>
          <a:solidFill>
            <a:schemeClr val="bg1">
              <a:alpha val="0"/>
            </a:schemeClr>
          </a:solidFill>
          <a:ln w="25400">
            <a:solidFill>
              <a:schemeClr val="accent2"/>
            </a:solidFill>
            <a:prstDash val="solid"/>
          </a:ln>
        </p:spPr>
      </p:sp>
      <p:sp>
        <p:nvSpPr>
          <p:cNvPr id="8" name="motifE3"/>
          <p:cNvSpPr/>
          <p:nvPr/>
        </p:nvSpPr>
        <p:spPr>
          <a:xfrm>
            <a:off x="1536192" y="685800"/>
            <a:ext cx="182880" cy="182880"/>
          </a:xfrm>
          <a:prstGeom prst="ellipse">
            <a:avLst/>
          </a:prstGeom>
          <a:solidFill>
            <a:schemeClr val="accent1"/>
          </a:solidFill>
          <a:ln w="12700">
            <a:solidFill>
              <a:schemeClr val="accent1"/>
            </a:solidFill>
            <a:prstDash val="solid"/>
          </a:ln>
        </p:spPr>
      </p:sp>
      <p:sp>
        <p:nvSpPr>
          <p:cNvPr id="9" name="motifE4"/>
          <p:cNvSpPr/>
          <p:nvPr/>
        </p:nvSpPr>
        <p:spPr>
          <a:xfrm>
            <a:off x="1865376" y="685800"/>
            <a:ext cx="182880" cy="182880"/>
          </a:xfrm>
          <a:prstGeom prst="ellipse">
            <a:avLst/>
          </a:prstGeom>
          <a:solidFill>
            <a:schemeClr val="accent1"/>
          </a:solidFill>
          <a:ln w="12700">
            <a:solidFill>
              <a:schemeClr val="accent1"/>
            </a:solidFill>
            <a:prstDash val="solid"/>
          </a:ln>
        </p:spPr>
      </p:sp>
      <p:sp>
        <p:nvSpPr>
          <p:cNvPr id="10" name="motifE5"/>
          <p:cNvSpPr/>
          <p:nvPr/>
        </p:nvSpPr>
        <p:spPr>
          <a:xfrm>
            <a:off x="2194560" y="685800"/>
            <a:ext cx="182880" cy="182880"/>
          </a:xfrm>
          <a:prstGeom prst="ellipse">
            <a:avLst/>
          </a:prstGeom>
          <a:solidFill>
            <a:schemeClr val="accent1"/>
          </a:solidFill>
          <a:ln w="12700">
            <a:solidFill>
              <a:schemeClr val="accent1"/>
            </a:solidFill>
            <a:prstDash val="solid"/>
          </a:ln>
        </p:spPr>
      </p:sp>
      <p:sp>
        <p:nvSpPr>
          <p:cNvPr id="11" name="motifE6"/>
          <p:cNvSpPr/>
          <p:nvPr/>
        </p:nvSpPr>
        <p:spPr>
          <a:xfrm>
            <a:off x="2523744" y="685800"/>
            <a:ext cx="182880" cy="182880"/>
          </a:xfrm>
          <a:prstGeom prst="ellipse">
            <a:avLst/>
          </a:prstGeom>
          <a:solidFill>
            <a:schemeClr val="bg1">
              <a:alpha val="0"/>
            </a:schemeClr>
          </a:solidFill>
          <a:ln w="25400">
            <a:solidFill>
              <a:schemeClr val="accent2"/>
            </a:solidFill>
            <a:prstDash val="solid"/>
          </a:ln>
        </p:spPr>
      </p:sp>
      <p:sp>
        <p:nvSpPr>
          <p:cNvPr id="12" name="motifE7"/>
          <p:cNvSpPr/>
          <p:nvPr/>
        </p:nvSpPr>
        <p:spPr>
          <a:xfrm>
            <a:off x="2852928" y="685800"/>
            <a:ext cx="182880" cy="182880"/>
          </a:xfrm>
          <a:prstGeom prst="ellipse">
            <a:avLst/>
          </a:prstGeom>
          <a:solidFill>
            <a:schemeClr val="bg1">
              <a:alpha val="0"/>
            </a:schemeClr>
          </a:solidFill>
          <a:ln w="25400">
            <a:solidFill>
              <a:schemeClr val="accent2"/>
            </a:solidFill>
            <a:prstDash val="solid"/>
          </a:ln>
        </p:spPr>
      </p:sp>
      <p:sp>
        <p:nvSpPr>
          <p:cNvPr id="13" name="motifE8"/>
          <p:cNvSpPr/>
          <p:nvPr/>
        </p:nvSpPr>
        <p:spPr>
          <a:xfrm>
            <a:off x="3182112" y="685800"/>
            <a:ext cx="182880" cy="182880"/>
          </a:xfrm>
          <a:prstGeom prst="ellipse">
            <a:avLst/>
          </a:prstGeom>
          <a:solidFill>
            <a:schemeClr val="accent1"/>
          </a:solidFill>
          <a:ln w="12700">
            <a:solidFill>
              <a:schemeClr val="accent1"/>
            </a:solidFill>
            <a:prstDash val="solid"/>
          </a:ln>
        </p:spPr>
      </p:sp>
      <p:sp>
        <p:nvSpPr>
          <p:cNvPr id="14" name="motifE9"/>
          <p:cNvSpPr/>
          <p:nvPr/>
        </p:nvSpPr>
        <p:spPr>
          <a:xfrm>
            <a:off x="3511296" y="685800"/>
            <a:ext cx="182880" cy="182880"/>
          </a:xfrm>
          <a:prstGeom prst="ellipse">
            <a:avLst/>
          </a:prstGeom>
          <a:solidFill>
            <a:schemeClr val="accent1"/>
          </a:solidFill>
          <a:ln w="12700">
            <a:solidFill>
              <a:schemeClr val="accent1"/>
            </a:solidFill>
            <a:prstDash val="solid"/>
          </a:ln>
        </p:spPr>
      </p:sp>
      <p:sp>
        <p:nvSpPr>
          <p:cNvPr id="15" name="motifE10"/>
          <p:cNvSpPr/>
          <p:nvPr/>
        </p:nvSpPr>
        <p:spPr>
          <a:xfrm>
            <a:off x="3840480" y="685800"/>
            <a:ext cx="182880" cy="182880"/>
          </a:xfrm>
          <a:prstGeom prst="ellipse">
            <a:avLst/>
          </a:prstGeom>
          <a:solidFill>
            <a:schemeClr val="bg1">
              <a:alpha val="0"/>
            </a:schemeClr>
          </a:solidFill>
          <a:ln w="25400">
            <a:solidFill>
              <a:schemeClr val="accent2"/>
            </a:solidFill>
            <a:prstDash val="solid"/>
          </a:ln>
        </p:spPr>
      </p:sp>
      <p:sp>
        <p:nvSpPr>
          <p:cNvPr id="16" name="motifE11"/>
          <p:cNvSpPr/>
          <p:nvPr/>
        </p:nvSpPr>
        <p:spPr>
          <a:xfrm>
            <a:off x="4169664" y="685800"/>
            <a:ext cx="182880" cy="182880"/>
          </a:xfrm>
          <a:prstGeom prst="ellipse">
            <a:avLst/>
          </a:prstGeom>
          <a:solidFill>
            <a:schemeClr val="accent1"/>
          </a:solidFill>
          <a:ln w="12700">
            <a:solidFill>
              <a:schemeClr val="accent1"/>
            </a:solidFill>
            <a:prstDash val="solid"/>
          </a:ln>
        </p:spPr>
      </p:sp>
    </p:spTree>
  </p:cSld>
  <p:clrMapOvr>
    <a:masterClrMapping/>
  </p:clrMapOvr>
</p:sld>
</file>

<file path=ppt/theme/theme1.xml><?xml version="1.0" encoding="utf-8"?>
<a:theme xmlns:a="http://schemas.openxmlformats.org/drawingml/2006/main" name="Missing Data">
  <a:themeElements>
    <a:clrScheme name="Missing Data">
      <a:dk1>
        <a:srgbClr val="1B2A33"/>
      </a:dk1>
      <a:lt1>
        <a:srgbClr val="FFFFFF"/>
      </a:lt1>
      <a:dk2>
        <a:srgbClr val="2E4450"/>
      </a:dk2>
      <a:lt2>
        <a:srgbClr val="F4F7F9"/>
      </a:lt2>
      <a:accent1>
        <a:srgbClr val="2A9D8F"/>
      </a:accent1>
      <a:accent2>
        <a:srgbClr val="E9A23B"/>
      </a:accent2>
      <a:accent3>
        <a:srgbClr val="D1495B"/>
      </a:accent3>
      <a:accent4>
        <a:srgbClr val="6B7B86"/>
      </a:accent4>
      <a:accent5>
        <a:srgbClr val="264653"/>
      </a:accent5>
      <a:accent6>
        <a:srgbClr val="8AB17D"/>
      </a:accent6>
      <a:hlink>
        <a:srgbClr val="2A9D8F"/>
      </a:hlink>
      <a:folHlink>
        <a:srgbClr val="264653"/>
      </a:folHlink>
    </a:clrScheme>
    <a:fontScheme name="Missing Data">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Deep Learning for Multivariate Time Series Imputation</dc:title>
  <dc:subject>PptxGenJS Presentation</dc:subject>
  <dc:creator>Anshita Shah</dc:creator>
  <cp:lastModifiedBy>Anshita Shah</cp:lastModifiedBy>
  <cp:revision>1</cp:revision>
  <dcterms:created xsi:type="dcterms:W3CDTF">2026-10-14T02:51:35Z</dcterms:created>
  <dcterms:modified xsi:type="dcterms:W3CDTF">2026-10-14T02:51:35Z</dcterms:modified>
</cp:coreProperties>
</file>